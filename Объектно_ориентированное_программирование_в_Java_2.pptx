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70" r:id="rId13"/>
    <p:sldId id="267" r:id="rId14"/>
  </p:sldIdLst>
  <p:sldSz cx="24384000" cy="13716000"/>
  <p:notesSz cx="13716000" cy="2438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Liter" panose="020B0604020202020204" charset="0"/>
      <p:regular r:id="rId24"/>
    </p:embeddedFont>
    <p:embeddedFont>
      <p:font typeface="Traditional Arabic" panose="02020603050405020304" pitchFamily="18" charset="-78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Фёдор Кашафутдинов" userId="ec75876b31acb052" providerId="LiveId" clId="{48CE4985-BEBA-409A-AFE8-5BEB7127E6D1}"/>
    <pc:docChg chg="modSld">
      <pc:chgData name="Фёдор Кашафутдинов" userId="ec75876b31acb052" providerId="LiveId" clId="{48CE4985-BEBA-409A-AFE8-5BEB7127E6D1}" dt="2026-04-24T10:10:56.922" v="21" actId="2711"/>
      <pc:docMkLst>
        <pc:docMk/>
      </pc:docMkLst>
      <pc:sldChg chg="modSp mod">
        <pc:chgData name="Фёдор Кашафутдинов" userId="ec75876b31acb052" providerId="LiveId" clId="{48CE4985-BEBA-409A-AFE8-5BEB7127E6D1}" dt="2026-04-24T10:10:56.922" v="21" actId="2711"/>
        <pc:sldMkLst>
          <pc:docMk/>
          <pc:sldMk cId="0" sldId="264"/>
        </pc:sldMkLst>
        <pc:spChg chg="mod">
          <ac:chgData name="Фёдор Кашафутдинов" userId="ec75876b31acb052" providerId="LiveId" clId="{48CE4985-BEBA-409A-AFE8-5BEB7127E6D1}" dt="2026-04-24T10:10:52.051" v="20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Фёдор Кашафутдинов" userId="ec75876b31acb052" providerId="LiveId" clId="{48CE4985-BEBA-409A-AFE8-5BEB7127E6D1}" dt="2026-04-24T10:10:56.922" v="21" actId="2711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Фёдор Кашафутдинов" userId="ec75876b31acb052" providerId="LiveId" clId="{48CE4985-BEBA-409A-AFE8-5BEB7127E6D1}" dt="2026-04-24T10:09:35.090" v="2" actId="2711"/>
        <pc:sldMkLst>
          <pc:docMk/>
          <pc:sldMk cId="0" sldId="266"/>
        </pc:sldMkLst>
        <pc:spChg chg="mod">
          <ac:chgData name="Фёдор Кашафутдинов" userId="ec75876b31acb052" providerId="LiveId" clId="{48CE4985-BEBA-409A-AFE8-5BEB7127E6D1}" dt="2026-04-24T10:09:30.935" v="1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Фёдор Кашафутдинов" userId="ec75876b31acb052" providerId="LiveId" clId="{48CE4985-BEBA-409A-AFE8-5BEB7127E6D1}" dt="2026-04-24T10:09:35.090" v="2" actId="2711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Фёдор Кашафутдинов" userId="ec75876b31acb052" providerId="LiveId" clId="{48CE4985-BEBA-409A-AFE8-5BEB7127E6D1}" dt="2026-04-24T10:10:31.971" v="19" actId="20577"/>
        <pc:sldMkLst>
          <pc:docMk/>
          <pc:sldMk cId="1450338331" sldId="269"/>
        </pc:sldMkLst>
        <pc:spChg chg="mod">
          <ac:chgData name="Фёдор Кашафутдинов" userId="ec75876b31acb052" providerId="LiveId" clId="{48CE4985-BEBA-409A-AFE8-5BEB7127E6D1}" dt="2026-04-24T10:09:59.700" v="4" actId="1076"/>
          <ac:spMkLst>
            <pc:docMk/>
            <pc:sldMk cId="1450338331" sldId="269"/>
            <ac:spMk id="2" creationId="{00000000-0000-0000-0000-000000000000}"/>
          </ac:spMkLst>
        </pc:spChg>
        <pc:spChg chg="mod">
          <ac:chgData name="Фёдор Кашафутдинов" userId="ec75876b31acb052" providerId="LiveId" clId="{48CE4985-BEBA-409A-AFE8-5BEB7127E6D1}" dt="2026-04-24T10:10:31.971" v="19" actId="20577"/>
          <ac:spMkLst>
            <pc:docMk/>
            <pc:sldMk cId="1450338331" sldId="269"/>
            <ac:spMk id="6" creationId="{00000000-0000-0000-0000-000000000000}"/>
          </ac:spMkLst>
        </pc:spChg>
      </pc:sldChg>
      <pc:sldChg chg="modSp mod">
        <pc:chgData name="Фёдор Кашафутдинов" userId="ec75876b31acb052" providerId="LiveId" clId="{48CE4985-BEBA-409A-AFE8-5BEB7127E6D1}" dt="2026-04-24T10:09:16.967" v="0" actId="2711"/>
        <pc:sldMkLst>
          <pc:docMk/>
          <pc:sldMk cId="3390841724" sldId="270"/>
        </pc:sldMkLst>
        <pc:spChg chg="mod">
          <ac:chgData name="Фёдор Кашафутдинов" userId="ec75876b31acb052" providerId="LiveId" clId="{48CE4985-BEBA-409A-AFE8-5BEB7127E6D1}" dt="2026-04-24T10:09:16.967" v="0" actId="2711"/>
          <ac:spMkLst>
            <pc:docMk/>
            <pc:sldMk cId="3390841724" sldId="270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82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96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uj6ruhfaa7b4/mnt/agents/output/oop-java/images/5_Java_Wallpaper_4K_Logo_Programming.png"/>
          <p:cNvPicPr>
            <a:picLocks noChangeAspect="1"/>
          </p:cNvPicPr>
          <p:nvPr/>
        </p:nvPicPr>
        <p:blipFill>
          <a:blip r:embed="rId3"/>
          <a:srcRect t="-142" b="-142"/>
          <a:stretch>
            <a:fillRect/>
          </a:stretch>
        </p:blipFill>
        <p:spPr>
          <a:xfrm>
            <a:off x="18669000" y="762000"/>
            <a:ext cx="4953000" cy="279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9680" y="2540000"/>
            <a:ext cx="12065000" cy="355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0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ОБЪЕКТНО-ОРИЕНТИРОВАННОЕ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ПРОГРАММИРОВАНИЕ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В </a:t>
            </a:r>
            <a:r>
              <a:rPr lang="en-US" sz="600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JAVA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49680" y="6477000"/>
            <a:ext cx="2540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5" name="Text 2"/>
          <p:cNvSpPr/>
          <p:nvPr/>
        </p:nvSpPr>
        <p:spPr>
          <a:xfrm>
            <a:off x="1249680" y="6858000"/>
            <a:ext cx="1016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Классы | Наследование | Полиморфизм | Абстракция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9680" y="11176000"/>
            <a:ext cx="1016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Докладчики: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Федор Кашафутдинов, Коба Владислав</a:t>
            </a:r>
            <a:endParaRPr lang="en-US" sz="1600" dirty="0"/>
          </a:p>
        </p:txBody>
      </p:sp>
      <p:pic>
        <p:nvPicPr>
          <p:cNvPr id="7" name="Image 1" descr="https://kimi-img.moonshot.cn/pub/slides/okc/5uj6ruhfaa7b4/mnt/agents/output/oop-java/images/6_Free_Glowing_Code_Workspace_Image.png"/>
          <p:cNvPicPr>
            <a:picLocks noChangeAspect="1"/>
          </p:cNvPicPr>
          <p:nvPr/>
        </p:nvPicPr>
        <p:blipFill>
          <a:blip r:embed="rId4">
            <a:alphaModFix amt="25000"/>
          </a:blip>
          <a:srcRect l="15546" r="15546"/>
          <a:stretch>
            <a:fillRect/>
          </a:stretch>
        </p:blipFill>
        <p:spPr>
          <a:xfrm>
            <a:off x="13970000" y="5080000"/>
            <a:ext cx="10414000" cy="8636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143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Что такое ООП?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Text 2"/>
          <p:cNvSpPr/>
          <p:nvPr/>
        </p:nvSpPr>
        <p:spPr>
          <a:xfrm>
            <a:off x="1249680" y="2667000"/>
            <a:ext cx="2184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Объектно-ориентированное программирование (ООП) — это подход к разработке программного обеспечения, при котором программа строится как </a:t>
            </a:r>
            <a:r>
              <a:rPr lang="en-US" sz="2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набор объектов</a:t>
            </a:r>
            <a:r>
              <a:rPr lang="en-US" sz="2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каждый из которых — экземпляр определённого </a:t>
            </a:r>
            <a:r>
              <a:rPr lang="en-US" sz="26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класса</a:t>
            </a:r>
            <a:r>
              <a:rPr lang="en-US" sz="2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49680" y="4572000"/>
            <a:ext cx="2184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Объект = </a:t>
            </a:r>
            <a:r>
              <a:rPr lang="en-US" sz="320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Состояние (Поля)</a:t>
            </a:r>
            <a:r>
              <a:rPr lang="en-US" sz="32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+ </a:t>
            </a:r>
            <a:r>
              <a:rPr lang="en-US" sz="320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Поведение (Методы)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49680" y="581025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 столпа ООП: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249680" y="6858000"/>
            <a:ext cx="5080000" cy="2540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8" name="Shape 6"/>
          <p:cNvSpPr/>
          <p:nvPr/>
        </p:nvSpPr>
        <p:spPr>
          <a:xfrm>
            <a:off x="1249680" y="6858000"/>
            <a:ext cx="5080000" cy="635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9" name="Shape 7"/>
          <p:cNvSpPr/>
          <p:nvPr/>
        </p:nvSpPr>
        <p:spPr>
          <a:xfrm>
            <a:off x="1694180" y="7239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1630680" y="7937500"/>
            <a:ext cx="431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Инкапсуляция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30680" y="85090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Сокрытие данных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37680" y="6858000"/>
            <a:ext cx="5080000" cy="2540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3" name="Shape 11"/>
          <p:cNvSpPr/>
          <p:nvPr/>
        </p:nvSpPr>
        <p:spPr>
          <a:xfrm>
            <a:off x="6837680" y="6858000"/>
            <a:ext cx="5080000" cy="635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14" name="Shape 12"/>
          <p:cNvSpPr/>
          <p:nvPr/>
        </p:nvSpPr>
        <p:spPr>
          <a:xfrm>
            <a:off x="7218680" y="723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0500" y="63500"/>
                </a:moveTo>
                <a:cubicBezTo>
                  <a:pt x="190500" y="45938"/>
                  <a:pt x="204688" y="31750"/>
                  <a:pt x="222250" y="31750"/>
                </a:cubicBezTo>
                <a:lnTo>
                  <a:pt x="285750" y="31750"/>
                </a:lnTo>
                <a:cubicBezTo>
                  <a:pt x="303312" y="31750"/>
                  <a:pt x="317500" y="45938"/>
                  <a:pt x="317500" y="6350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277813" y="158750"/>
                </a:lnTo>
                <a:lnTo>
                  <a:pt x="277813" y="222250"/>
                </a:lnTo>
                <a:lnTo>
                  <a:pt x="396875" y="222250"/>
                </a:lnTo>
                <a:cubicBezTo>
                  <a:pt x="436364" y="222250"/>
                  <a:pt x="468313" y="254198"/>
                  <a:pt x="468313" y="293688"/>
                </a:cubicBezTo>
                <a:lnTo>
                  <a:pt x="468313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12750" y="476250"/>
                </a:lnTo>
                <a:cubicBezTo>
                  <a:pt x="395188" y="476250"/>
                  <a:pt x="381000" y="462062"/>
                  <a:pt x="381000" y="444500"/>
                </a:cubicBezTo>
                <a:lnTo>
                  <a:pt x="381000" y="381000"/>
                </a:lnTo>
                <a:cubicBezTo>
                  <a:pt x="381000" y="363438"/>
                  <a:pt x="395188" y="349250"/>
                  <a:pt x="412750" y="349250"/>
                </a:cubicBezTo>
                <a:lnTo>
                  <a:pt x="420688" y="349250"/>
                </a:lnTo>
                <a:lnTo>
                  <a:pt x="420688" y="293688"/>
                </a:lnTo>
                <a:cubicBezTo>
                  <a:pt x="420688" y="280491"/>
                  <a:pt x="410071" y="269875"/>
                  <a:pt x="396875" y="269875"/>
                </a:cubicBezTo>
                <a:lnTo>
                  <a:pt x="277813" y="269875"/>
                </a:lnTo>
                <a:lnTo>
                  <a:pt x="277813" y="349250"/>
                </a:lnTo>
                <a:lnTo>
                  <a:pt x="285750" y="349250"/>
                </a:lnTo>
                <a:cubicBezTo>
                  <a:pt x="303312" y="349250"/>
                  <a:pt x="317500" y="363438"/>
                  <a:pt x="317500" y="381000"/>
                </a:cubicBezTo>
                <a:lnTo>
                  <a:pt x="317500" y="444500"/>
                </a:lnTo>
                <a:cubicBezTo>
                  <a:pt x="317500" y="462062"/>
                  <a:pt x="303312" y="476250"/>
                  <a:pt x="285750" y="476250"/>
                </a:cubicBezTo>
                <a:lnTo>
                  <a:pt x="222250" y="476250"/>
                </a:lnTo>
                <a:cubicBezTo>
                  <a:pt x="204688" y="476250"/>
                  <a:pt x="190500" y="462062"/>
                  <a:pt x="190500" y="444500"/>
                </a:cubicBezTo>
                <a:lnTo>
                  <a:pt x="190500" y="381000"/>
                </a:lnTo>
                <a:cubicBezTo>
                  <a:pt x="190500" y="363438"/>
                  <a:pt x="204688" y="349250"/>
                  <a:pt x="222250" y="349250"/>
                </a:cubicBezTo>
                <a:lnTo>
                  <a:pt x="230188" y="349250"/>
                </a:lnTo>
                <a:lnTo>
                  <a:pt x="230188" y="269875"/>
                </a:lnTo>
                <a:lnTo>
                  <a:pt x="111125" y="269875"/>
                </a:lnTo>
                <a:cubicBezTo>
                  <a:pt x="97929" y="269875"/>
                  <a:pt x="87313" y="280491"/>
                  <a:pt x="87313" y="293688"/>
                </a:cubicBezTo>
                <a:lnTo>
                  <a:pt x="87313" y="349250"/>
                </a:lnTo>
                <a:lnTo>
                  <a:pt x="95250" y="349250"/>
                </a:lnTo>
                <a:cubicBezTo>
                  <a:pt x="112812" y="349250"/>
                  <a:pt x="127000" y="363438"/>
                  <a:pt x="127000" y="381000"/>
                </a:cubicBezTo>
                <a:lnTo>
                  <a:pt x="127000" y="444500"/>
                </a:lnTo>
                <a:cubicBezTo>
                  <a:pt x="127000" y="462062"/>
                  <a:pt x="112812" y="476250"/>
                  <a:pt x="9525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381000"/>
                </a:lnTo>
                <a:cubicBezTo>
                  <a:pt x="0" y="363438"/>
                  <a:pt x="14188" y="349250"/>
                  <a:pt x="31750" y="349250"/>
                </a:cubicBezTo>
                <a:lnTo>
                  <a:pt x="39688" y="349250"/>
                </a:lnTo>
                <a:lnTo>
                  <a:pt x="39688" y="293688"/>
                </a:lnTo>
                <a:cubicBezTo>
                  <a:pt x="39688" y="254198"/>
                  <a:pt x="71636" y="222250"/>
                  <a:pt x="111125" y="222250"/>
                </a:cubicBezTo>
                <a:lnTo>
                  <a:pt x="230188" y="222250"/>
                </a:lnTo>
                <a:lnTo>
                  <a:pt x="230188" y="158750"/>
                </a:lnTo>
                <a:lnTo>
                  <a:pt x="222250" y="158750"/>
                </a:lnTo>
                <a:cubicBezTo>
                  <a:pt x="204688" y="158750"/>
                  <a:pt x="190500" y="144562"/>
                  <a:pt x="190500" y="127000"/>
                </a:cubicBezTo>
                <a:lnTo>
                  <a:pt x="190500" y="63500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15" name="Text 13"/>
          <p:cNvSpPr/>
          <p:nvPr/>
        </p:nvSpPr>
        <p:spPr>
          <a:xfrm>
            <a:off x="7218680" y="7937500"/>
            <a:ext cx="431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Наследование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18680" y="85090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Иерархия классов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425680" y="6858000"/>
            <a:ext cx="5080000" cy="2540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8" name="Shape 16"/>
          <p:cNvSpPr/>
          <p:nvPr/>
        </p:nvSpPr>
        <p:spPr>
          <a:xfrm>
            <a:off x="12425680" y="6858000"/>
            <a:ext cx="5080000" cy="635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19" name="Shape 17"/>
          <p:cNvSpPr/>
          <p:nvPr/>
        </p:nvSpPr>
        <p:spPr>
          <a:xfrm>
            <a:off x="12806680" y="723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00645" y="34131"/>
                </a:moveTo>
                <a:cubicBezTo>
                  <a:pt x="412552" y="29170"/>
                  <a:pt x="426145" y="31948"/>
                  <a:pt x="435273" y="40977"/>
                </a:cubicBezTo>
                <a:lnTo>
                  <a:pt x="498773" y="104477"/>
                </a:lnTo>
                <a:cubicBezTo>
                  <a:pt x="504726" y="110430"/>
                  <a:pt x="508099" y="118467"/>
                  <a:pt x="508099" y="126901"/>
                </a:cubicBezTo>
                <a:cubicBezTo>
                  <a:pt x="508099" y="135334"/>
                  <a:pt x="504726" y="143371"/>
                  <a:pt x="498773" y="149324"/>
                </a:cubicBezTo>
                <a:lnTo>
                  <a:pt x="435273" y="212824"/>
                </a:lnTo>
                <a:cubicBezTo>
                  <a:pt x="426145" y="221952"/>
                  <a:pt x="412552" y="224631"/>
                  <a:pt x="400645" y="219670"/>
                </a:cubicBezTo>
                <a:cubicBezTo>
                  <a:pt x="388739" y="214709"/>
                  <a:pt x="381000" y="203299"/>
                  <a:pt x="381000" y="190500"/>
                </a:cubicBezTo>
                <a:lnTo>
                  <a:pt x="381000" y="158750"/>
                </a:lnTo>
                <a:lnTo>
                  <a:pt x="349250" y="158750"/>
                </a:lnTo>
                <a:cubicBezTo>
                  <a:pt x="339229" y="158750"/>
                  <a:pt x="329803" y="163413"/>
                  <a:pt x="323850" y="171450"/>
                </a:cubicBezTo>
                <a:lnTo>
                  <a:pt x="291703" y="214313"/>
                </a:lnTo>
                <a:lnTo>
                  <a:pt x="252016" y="161429"/>
                </a:lnTo>
                <a:lnTo>
                  <a:pt x="273050" y="133350"/>
                </a:lnTo>
                <a:cubicBezTo>
                  <a:pt x="291009" y="109339"/>
                  <a:pt x="319286" y="95250"/>
                  <a:pt x="349250" y="95250"/>
                </a:cubicBezTo>
                <a:lnTo>
                  <a:pt x="381000" y="95250"/>
                </a:lnTo>
                <a:lnTo>
                  <a:pt x="381000" y="63500"/>
                </a:lnTo>
                <a:cubicBezTo>
                  <a:pt x="381000" y="50701"/>
                  <a:pt x="388739" y="39092"/>
                  <a:pt x="400645" y="34131"/>
                </a:cubicBezTo>
                <a:close/>
                <a:moveTo>
                  <a:pt x="152797" y="293688"/>
                </a:moveTo>
                <a:lnTo>
                  <a:pt x="192484" y="346571"/>
                </a:lnTo>
                <a:lnTo>
                  <a:pt x="171450" y="374650"/>
                </a:lnTo>
                <a:cubicBezTo>
                  <a:pt x="153491" y="398661"/>
                  <a:pt x="125214" y="412750"/>
                  <a:pt x="95250" y="412750"/>
                </a:cubicBezTo>
                <a:lnTo>
                  <a:pt x="31750" y="412750"/>
                </a:lnTo>
                <a:cubicBezTo>
                  <a:pt x="14188" y="412750"/>
                  <a:pt x="0" y="398562"/>
                  <a:pt x="0" y="381000"/>
                </a:cubicBezTo>
                <a:cubicBezTo>
                  <a:pt x="0" y="363438"/>
                  <a:pt x="14188" y="349250"/>
                  <a:pt x="31750" y="349250"/>
                </a:cubicBezTo>
                <a:lnTo>
                  <a:pt x="95250" y="349250"/>
                </a:lnTo>
                <a:cubicBezTo>
                  <a:pt x="105271" y="349250"/>
                  <a:pt x="114697" y="344587"/>
                  <a:pt x="120650" y="336550"/>
                </a:cubicBezTo>
                <a:lnTo>
                  <a:pt x="152797" y="293688"/>
                </a:lnTo>
                <a:close/>
                <a:moveTo>
                  <a:pt x="435173" y="466923"/>
                </a:moveTo>
                <a:cubicBezTo>
                  <a:pt x="426045" y="476052"/>
                  <a:pt x="412452" y="478730"/>
                  <a:pt x="400546" y="473770"/>
                </a:cubicBezTo>
                <a:cubicBezTo>
                  <a:pt x="388640" y="468809"/>
                  <a:pt x="381000" y="457299"/>
                  <a:pt x="381000" y="444500"/>
                </a:cubicBezTo>
                <a:lnTo>
                  <a:pt x="381000" y="412750"/>
                </a:lnTo>
                <a:lnTo>
                  <a:pt x="349250" y="412750"/>
                </a:lnTo>
                <a:cubicBezTo>
                  <a:pt x="319286" y="412750"/>
                  <a:pt x="291009" y="398661"/>
                  <a:pt x="273050" y="374650"/>
                </a:cubicBezTo>
                <a:lnTo>
                  <a:pt x="120650" y="171450"/>
                </a:lnTo>
                <a:cubicBezTo>
                  <a:pt x="114697" y="163413"/>
                  <a:pt x="105271" y="158750"/>
                  <a:pt x="95250" y="158750"/>
                </a:cubicBezTo>
                <a:lnTo>
                  <a:pt x="31750" y="158750"/>
                </a:lnTo>
                <a:cubicBezTo>
                  <a:pt x="14188" y="158750"/>
                  <a:pt x="0" y="144562"/>
                  <a:pt x="0" y="127000"/>
                </a:cubicBezTo>
                <a:cubicBezTo>
                  <a:pt x="0" y="109438"/>
                  <a:pt x="14188" y="95250"/>
                  <a:pt x="31750" y="95250"/>
                </a:cubicBezTo>
                <a:lnTo>
                  <a:pt x="95250" y="95250"/>
                </a:lnTo>
                <a:cubicBezTo>
                  <a:pt x="125214" y="95250"/>
                  <a:pt x="153491" y="109339"/>
                  <a:pt x="171450" y="133350"/>
                </a:cubicBezTo>
                <a:lnTo>
                  <a:pt x="323850" y="336550"/>
                </a:lnTo>
                <a:cubicBezTo>
                  <a:pt x="329803" y="344587"/>
                  <a:pt x="339229" y="349250"/>
                  <a:pt x="349250" y="349250"/>
                </a:cubicBezTo>
                <a:lnTo>
                  <a:pt x="381000" y="349250"/>
                </a:lnTo>
                <a:lnTo>
                  <a:pt x="381000" y="317500"/>
                </a:lnTo>
                <a:cubicBezTo>
                  <a:pt x="381000" y="304701"/>
                  <a:pt x="388739" y="293092"/>
                  <a:pt x="400645" y="288131"/>
                </a:cubicBezTo>
                <a:cubicBezTo>
                  <a:pt x="412552" y="283170"/>
                  <a:pt x="426145" y="285948"/>
                  <a:pt x="435273" y="294977"/>
                </a:cubicBezTo>
                <a:lnTo>
                  <a:pt x="498773" y="358477"/>
                </a:lnTo>
                <a:cubicBezTo>
                  <a:pt x="504726" y="364430"/>
                  <a:pt x="508099" y="372467"/>
                  <a:pt x="508099" y="380901"/>
                </a:cubicBezTo>
                <a:cubicBezTo>
                  <a:pt x="508099" y="389334"/>
                  <a:pt x="504726" y="397371"/>
                  <a:pt x="498773" y="403324"/>
                </a:cubicBezTo>
                <a:lnTo>
                  <a:pt x="435273" y="466824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20" name="Text 18"/>
          <p:cNvSpPr/>
          <p:nvPr/>
        </p:nvSpPr>
        <p:spPr>
          <a:xfrm>
            <a:off x="12806680" y="7937500"/>
            <a:ext cx="431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Полиморфизм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6680" y="85090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Гибкость кода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013680" y="6858000"/>
            <a:ext cx="5080000" cy="2540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23" name="Shape 21"/>
          <p:cNvSpPr/>
          <p:nvPr/>
        </p:nvSpPr>
        <p:spPr>
          <a:xfrm>
            <a:off x="18013680" y="6858000"/>
            <a:ext cx="5080000" cy="635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24" name="Shape 22"/>
          <p:cNvSpPr/>
          <p:nvPr/>
        </p:nvSpPr>
        <p:spPr>
          <a:xfrm>
            <a:off x="18362930" y="7239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25" name="Text 23"/>
          <p:cNvSpPr/>
          <p:nvPr/>
        </p:nvSpPr>
        <p:spPr>
          <a:xfrm>
            <a:off x="18394680" y="7937500"/>
            <a:ext cx="431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Абстракция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394680" y="85090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Фокус на важном</a:t>
            </a:r>
            <a:endParaRPr lang="en-US" sz="1600" dirty="0"/>
          </a:p>
        </p:txBody>
      </p:sp>
      <p:pic>
        <p:nvPicPr>
          <p:cNvPr id="28" name="Изображение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" y="6857365"/>
            <a:ext cx="21831935" cy="66217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143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Класс vs Объект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1249680" y="2794000"/>
            <a:ext cx="10541000" cy="4826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5" name="Shape 3"/>
          <p:cNvSpPr/>
          <p:nvPr/>
        </p:nvSpPr>
        <p:spPr>
          <a:xfrm>
            <a:off x="1249680" y="2794000"/>
            <a:ext cx="63500" cy="48260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6" name="Shape 4"/>
          <p:cNvSpPr/>
          <p:nvPr/>
        </p:nvSpPr>
        <p:spPr>
          <a:xfrm>
            <a:off x="1833880" y="3175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0" y="76200"/>
                </a:moveTo>
                <a:cubicBezTo>
                  <a:pt x="0" y="34171"/>
                  <a:pt x="34171" y="0"/>
                  <a:pt x="76200" y="0"/>
                </a:cubicBezTo>
                <a:lnTo>
                  <a:pt x="254198" y="0"/>
                </a:lnTo>
                <a:cubicBezTo>
                  <a:pt x="274439" y="0"/>
                  <a:pt x="293846" y="7977"/>
                  <a:pt x="308134" y="22265"/>
                </a:cubicBezTo>
                <a:lnTo>
                  <a:pt x="434935" y="149185"/>
                </a:lnTo>
                <a:cubicBezTo>
                  <a:pt x="449223" y="163473"/>
                  <a:pt x="457200" y="182880"/>
                  <a:pt x="457200" y="203121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247650" y="69652"/>
                </a:moveTo>
                <a:lnTo>
                  <a:pt x="247650" y="180975"/>
                </a:lnTo>
                <a:cubicBezTo>
                  <a:pt x="247650" y="196810"/>
                  <a:pt x="260390" y="209550"/>
                  <a:pt x="276225" y="209550"/>
                </a:cubicBezTo>
                <a:lnTo>
                  <a:pt x="387548" y="209550"/>
                </a:lnTo>
                <a:lnTo>
                  <a:pt x="247650" y="69652"/>
                </a:lnTo>
                <a:close/>
                <a:moveTo>
                  <a:pt x="183594" y="351949"/>
                </a:moveTo>
                <a:cubicBezTo>
                  <a:pt x="193834" y="339923"/>
                  <a:pt x="192524" y="321945"/>
                  <a:pt x="180499" y="311706"/>
                </a:cubicBezTo>
                <a:cubicBezTo>
                  <a:pt x="168473" y="301466"/>
                  <a:pt x="150495" y="302776"/>
                  <a:pt x="140256" y="314801"/>
                </a:cubicBezTo>
                <a:lnTo>
                  <a:pt x="83106" y="381476"/>
                </a:lnTo>
                <a:cubicBezTo>
                  <a:pt x="73938" y="392192"/>
                  <a:pt x="73938" y="407908"/>
                  <a:pt x="83106" y="418624"/>
                </a:cubicBezTo>
                <a:lnTo>
                  <a:pt x="140256" y="485299"/>
                </a:lnTo>
                <a:cubicBezTo>
                  <a:pt x="150495" y="497324"/>
                  <a:pt x="168592" y="498634"/>
                  <a:pt x="180499" y="488394"/>
                </a:cubicBezTo>
                <a:cubicBezTo>
                  <a:pt x="192405" y="478155"/>
                  <a:pt x="193834" y="460058"/>
                  <a:pt x="183594" y="448151"/>
                </a:cubicBezTo>
                <a:lnTo>
                  <a:pt x="142399" y="400050"/>
                </a:lnTo>
                <a:lnTo>
                  <a:pt x="183594" y="351949"/>
                </a:lnTo>
                <a:close/>
                <a:moveTo>
                  <a:pt x="316944" y="314801"/>
                </a:moveTo>
                <a:cubicBezTo>
                  <a:pt x="306705" y="302776"/>
                  <a:pt x="288607" y="301466"/>
                  <a:pt x="276701" y="311706"/>
                </a:cubicBezTo>
                <a:cubicBezTo>
                  <a:pt x="264795" y="321945"/>
                  <a:pt x="263366" y="340043"/>
                  <a:pt x="273606" y="351949"/>
                </a:cubicBezTo>
                <a:lnTo>
                  <a:pt x="314801" y="400050"/>
                </a:lnTo>
                <a:lnTo>
                  <a:pt x="273606" y="448151"/>
                </a:lnTo>
                <a:cubicBezTo>
                  <a:pt x="263366" y="460177"/>
                  <a:pt x="264676" y="478155"/>
                  <a:pt x="276701" y="488394"/>
                </a:cubicBezTo>
                <a:cubicBezTo>
                  <a:pt x="288727" y="498634"/>
                  <a:pt x="306705" y="497324"/>
                  <a:pt x="316944" y="485299"/>
                </a:cubicBezTo>
                <a:lnTo>
                  <a:pt x="374094" y="418624"/>
                </a:lnTo>
                <a:cubicBezTo>
                  <a:pt x="383262" y="407908"/>
                  <a:pt x="383262" y="392192"/>
                  <a:pt x="374094" y="381476"/>
                </a:cubicBezTo>
                <a:lnTo>
                  <a:pt x="316944" y="314801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7" name="Text 5"/>
          <p:cNvSpPr/>
          <p:nvPr/>
        </p:nvSpPr>
        <p:spPr>
          <a:xfrm>
            <a:off x="1757680" y="4000500"/>
            <a:ext cx="9525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КЛАСС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57680" y="4699000"/>
            <a:ext cx="9525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Класс в Java — это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шаблон или чертёж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который определяет структуру и поведение объектов, создаваемых на его основе.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Класс описывает, </a:t>
            </a:r>
            <a:r>
              <a:rPr lang="en-US" sz="2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какие данные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будет содержать объект и </a:t>
            </a:r>
            <a:r>
              <a:rPr lang="en-US" sz="2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какие методы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он будет выполнять.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552680" y="2794000"/>
            <a:ext cx="10541000" cy="4826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0" name="Shape 8"/>
          <p:cNvSpPr/>
          <p:nvPr/>
        </p:nvSpPr>
        <p:spPr>
          <a:xfrm>
            <a:off x="12552680" y="2794000"/>
            <a:ext cx="63500" cy="4826000"/>
          </a:xfrm>
          <a:prstGeom prst="rect">
            <a:avLst/>
          </a:prstGeom>
          <a:solidFill>
            <a:srgbClr val="4BACC6"/>
          </a:solidFill>
        </p:spPr>
      </p:sp>
      <p:sp>
        <p:nvSpPr>
          <p:cNvPr id="11" name="Shape 9"/>
          <p:cNvSpPr/>
          <p:nvPr/>
        </p:nvSpPr>
        <p:spPr>
          <a:xfrm>
            <a:off x="13060680" y="3175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7057" y="-2977"/>
                </a:moveTo>
                <a:cubicBezTo>
                  <a:pt x="290632" y="-16550"/>
                  <a:pt x="319683" y="-16550"/>
                  <a:pt x="343257" y="-2977"/>
                </a:cubicBezTo>
                <a:lnTo>
                  <a:pt x="552688" y="117872"/>
                </a:lnTo>
                <a:cubicBezTo>
                  <a:pt x="576263" y="131445"/>
                  <a:pt x="590788" y="156686"/>
                  <a:pt x="590788" y="183833"/>
                </a:cubicBezTo>
                <a:lnTo>
                  <a:pt x="590788" y="425529"/>
                </a:lnTo>
                <a:cubicBezTo>
                  <a:pt x="590788" y="452795"/>
                  <a:pt x="576263" y="477917"/>
                  <a:pt x="552688" y="491490"/>
                </a:cubicBezTo>
                <a:lnTo>
                  <a:pt x="343257" y="612577"/>
                </a:lnTo>
                <a:cubicBezTo>
                  <a:pt x="319683" y="626150"/>
                  <a:pt x="290632" y="626150"/>
                  <a:pt x="267057" y="612577"/>
                </a:cubicBezTo>
                <a:lnTo>
                  <a:pt x="57745" y="491728"/>
                </a:lnTo>
                <a:cubicBezTo>
                  <a:pt x="34171" y="478155"/>
                  <a:pt x="19645" y="452914"/>
                  <a:pt x="19645" y="425768"/>
                </a:cubicBezTo>
                <a:lnTo>
                  <a:pt x="19645" y="184071"/>
                </a:lnTo>
                <a:cubicBezTo>
                  <a:pt x="19645" y="156805"/>
                  <a:pt x="34171" y="131683"/>
                  <a:pt x="57745" y="118110"/>
                </a:cubicBezTo>
                <a:lnTo>
                  <a:pt x="267057" y="-2977"/>
                </a:lnTo>
                <a:close/>
                <a:moveTo>
                  <a:pt x="514469" y="425648"/>
                </a:moveTo>
                <a:lnTo>
                  <a:pt x="514469" y="227886"/>
                </a:lnTo>
                <a:lnTo>
                  <a:pt x="343257" y="326708"/>
                </a:lnTo>
                <a:lnTo>
                  <a:pt x="343257" y="524470"/>
                </a:lnTo>
                <a:lnTo>
                  <a:pt x="514469" y="425648"/>
                </a:lnTo>
                <a:close/>
              </a:path>
            </a:pathLst>
          </a:custGeom>
          <a:solidFill>
            <a:srgbClr val="4BACC6"/>
          </a:solidFill>
        </p:spPr>
      </p:sp>
      <p:sp>
        <p:nvSpPr>
          <p:cNvPr id="12" name="Text 10"/>
          <p:cNvSpPr/>
          <p:nvPr/>
        </p:nvSpPr>
        <p:spPr>
          <a:xfrm>
            <a:off x="13060680" y="4000500"/>
            <a:ext cx="9525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BACC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ОБЪЕКТ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60680" y="4699000"/>
            <a:ext cx="9525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Объект — это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конкретный экземпляр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созданный по чертежу (классу).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Один класс может породить </a:t>
            </a:r>
            <a:r>
              <a:rPr lang="en-US" sz="2200" dirty="0">
                <a:solidFill>
                  <a:srgbClr val="4BACC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множество объектов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каждый со своим уникальным состоянием.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912600" y="5080000"/>
            <a:ext cx="558800" cy="0"/>
          </a:xfrm>
          <a:prstGeom prst="straightConnector1">
            <a:avLst/>
          </a:prstGeom>
          <a:noFill/>
          <a:ln w="38100">
            <a:solidFill>
              <a:srgbClr val="7EC0DA"/>
            </a:solidFill>
            <a:prstDash val="solid"/>
            <a:headEnd type="none"/>
            <a:tailEnd type="arrow"/>
          </a:ln>
        </p:spPr>
      </p:sp>
      <p:pic>
        <p:nvPicPr>
          <p:cNvPr id="15" name="Image 0" descr="https://kimi-img.moonshot.cn/pub/slides/okc/5uj6ruhfaa7b4/mnt/agents/output/oop-java/images/4_Why_Do_Programmers_Work_With_Dark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35352" b="35352"/>
          <a:stretch>
            <a:fillRect/>
          </a:stretch>
        </p:blipFill>
        <p:spPr>
          <a:xfrm>
            <a:off x="1249680" y="8128000"/>
            <a:ext cx="21844000" cy="4699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524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Анатомия класса в Java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Text 2"/>
          <p:cNvSpPr/>
          <p:nvPr/>
        </p:nvSpPr>
        <p:spPr>
          <a:xfrm>
            <a:off x="1249680" y="2540000"/>
            <a:ext cx="21844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Основные компоненты класса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249680" y="3683000"/>
            <a:ext cx="10541000" cy="4445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6" name="Shape 4"/>
          <p:cNvSpPr/>
          <p:nvPr/>
        </p:nvSpPr>
        <p:spPr>
          <a:xfrm>
            <a:off x="1249680" y="3683000"/>
            <a:ext cx="10541000" cy="635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7" name="Shape 5"/>
          <p:cNvSpPr/>
          <p:nvPr/>
        </p:nvSpPr>
        <p:spPr>
          <a:xfrm>
            <a:off x="1792605" y="40640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488950" y="224611"/>
                </a:moveTo>
                <a:cubicBezTo>
                  <a:pt x="472797" y="235307"/>
                  <a:pt x="454243" y="243929"/>
                  <a:pt x="434925" y="250805"/>
                </a:cubicBezTo>
                <a:cubicBezTo>
                  <a:pt x="383629" y="269141"/>
                  <a:pt x="316290" y="279400"/>
                  <a:pt x="244475" y="279400"/>
                </a:cubicBezTo>
                <a:cubicBezTo>
                  <a:pt x="172660" y="279400"/>
                  <a:pt x="105212" y="269032"/>
                  <a:pt x="54025" y="250805"/>
                </a:cubicBezTo>
                <a:cubicBezTo>
                  <a:pt x="34816" y="243929"/>
                  <a:pt x="16153" y="235307"/>
                  <a:pt x="0" y="224611"/>
                </a:cubicBezTo>
                <a:lnTo>
                  <a:pt x="0" y="314325"/>
                </a:lnTo>
                <a:cubicBezTo>
                  <a:pt x="0" y="362565"/>
                  <a:pt x="109468" y="401637"/>
                  <a:pt x="244475" y="401637"/>
                </a:cubicBezTo>
                <a:cubicBezTo>
                  <a:pt x="379482" y="401637"/>
                  <a:pt x="488950" y="362565"/>
                  <a:pt x="488950" y="314325"/>
                </a:cubicBezTo>
                <a:lnTo>
                  <a:pt x="488950" y="224611"/>
                </a:lnTo>
                <a:close/>
                <a:moveTo>
                  <a:pt x="488950" y="139700"/>
                </a:moveTo>
                <a:lnTo>
                  <a:pt x="488950" y="87313"/>
                </a:lnTo>
                <a:cubicBezTo>
                  <a:pt x="488950" y="39072"/>
                  <a:pt x="379482" y="0"/>
                  <a:pt x="244475" y="0"/>
                </a:cubicBezTo>
                <a:cubicBezTo>
                  <a:pt x="109468" y="0"/>
                  <a:pt x="0" y="39072"/>
                  <a:pt x="0" y="87313"/>
                </a:cubicBezTo>
                <a:lnTo>
                  <a:pt x="0" y="139700"/>
                </a:lnTo>
                <a:cubicBezTo>
                  <a:pt x="0" y="187940"/>
                  <a:pt x="109468" y="227013"/>
                  <a:pt x="244475" y="227013"/>
                </a:cubicBezTo>
                <a:cubicBezTo>
                  <a:pt x="379482" y="227013"/>
                  <a:pt x="488950" y="187940"/>
                  <a:pt x="488950" y="139700"/>
                </a:cubicBezTo>
                <a:close/>
                <a:moveTo>
                  <a:pt x="434925" y="425430"/>
                </a:moveTo>
                <a:cubicBezTo>
                  <a:pt x="383738" y="443657"/>
                  <a:pt x="316399" y="454025"/>
                  <a:pt x="244475" y="454025"/>
                </a:cubicBezTo>
                <a:cubicBezTo>
                  <a:pt x="172551" y="454025"/>
                  <a:pt x="105212" y="443657"/>
                  <a:pt x="54025" y="425430"/>
                </a:cubicBezTo>
                <a:cubicBezTo>
                  <a:pt x="34816" y="418554"/>
                  <a:pt x="16153" y="409932"/>
                  <a:pt x="0" y="399236"/>
                </a:cubicBezTo>
                <a:lnTo>
                  <a:pt x="0" y="471488"/>
                </a:lnTo>
                <a:cubicBezTo>
                  <a:pt x="0" y="519728"/>
                  <a:pt x="109468" y="558800"/>
                  <a:pt x="244475" y="558800"/>
                </a:cubicBezTo>
                <a:cubicBezTo>
                  <a:pt x="379482" y="558800"/>
                  <a:pt x="488950" y="519728"/>
                  <a:pt x="488950" y="471488"/>
                </a:cubicBezTo>
                <a:lnTo>
                  <a:pt x="488950" y="399236"/>
                </a:lnTo>
                <a:cubicBezTo>
                  <a:pt x="472797" y="409932"/>
                  <a:pt x="454243" y="418554"/>
                  <a:pt x="434925" y="425430"/>
                </a:cubicBezTo>
                <a:close/>
              </a:path>
            </a:pathLst>
          </a:custGeom>
          <a:solidFill>
            <a:srgbClr val="7EC0DA"/>
          </a:solidFill>
        </p:spPr>
      </p:sp>
      <p:sp>
        <p:nvSpPr>
          <p:cNvPr id="8" name="Text 6"/>
          <p:cNvSpPr/>
          <p:nvPr/>
        </p:nvSpPr>
        <p:spPr>
          <a:xfrm>
            <a:off x="2540000" y="4064000"/>
            <a:ext cx="8636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Поля (переменные класса)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57680" y="4953000"/>
            <a:ext cx="9525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Поля определяют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состояние объекта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Это переменные, объявленные внутри класса, которые хранят данные.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Пример: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String name; int age;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552680" y="3683000"/>
            <a:ext cx="10541000" cy="4445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1" name="Shape 9"/>
          <p:cNvSpPr/>
          <p:nvPr/>
        </p:nvSpPr>
        <p:spPr>
          <a:xfrm>
            <a:off x="12552680" y="3683000"/>
            <a:ext cx="10541000" cy="63500"/>
          </a:xfrm>
          <a:prstGeom prst="rect">
            <a:avLst/>
          </a:prstGeom>
          <a:solidFill>
            <a:srgbClr val="4BACC6"/>
          </a:solidFill>
        </p:spPr>
      </p:sp>
      <p:sp>
        <p:nvSpPr>
          <p:cNvPr id="12" name="Shape 10"/>
          <p:cNvSpPr/>
          <p:nvPr/>
        </p:nvSpPr>
        <p:spPr>
          <a:xfrm>
            <a:off x="13025755" y="40640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393779" y="1310"/>
                </a:moveTo>
                <a:cubicBezTo>
                  <a:pt x="375225" y="-4038"/>
                  <a:pt x="355908" y="6767"/>
                  <a:pt x="350560" y="25321"/>
                </a:cubicBezTo>
                <a:lnTo>
                  <a:pt x="210860" y="514271"/>
                </a:lnTo>
                <a:cubicBezTo>
                  <a:pt x="205512" y="532825"/>
                  <a:pt x="216317" y="552142"/>
                  <a:pt x="234871" y="557490"/>
                </a:cubicBezTo>
                <a:cubicBezTo>
                  <a:pt x="253425" y="562838"/>
                  <a:pt x="272742" y="552033"/>
                  <a:pt x="278090" y="533479"/>
                </a:cubicBezTo>
                <a:lnTo>
                  <a:pt x="417790" y="44529"/>
                </a:lnTo>
                <a:cubicBezTo>
                  <a:pt x="423138" y="25975"/>
                  <a:pt x="412333" y="6658"/>
                  <a:pt x="393779" y="1310"/>
                </a:cubicBezTo>
                <a:close/>
                <a:moveTo>
                  <a:pt x="464284" y="149850"/>
                </a:moveTo>
                <a:cubicBezTo>
                  <a:pt x="450642" y="163493"/>
                  <a:pt x="450642" y="185648"/>
                  <a:pt x="464284" y="199291"/>
                </a:cubicBezTo>
                <a:lnTo>
                  <a:pt x="544393" y="279400"/>
                </a:lnTo>
                <a:lnTo>
                  <a:pt x="464284" y="359509"/>
                </a:lnTo>
                <a:cubicBezTo>
                  <a:pt x="450642" y="373152"/>
                  <a:pt x="450642" y="395307"/>
                  <a:pt x="464284" y="408950"/>
                </a:cubicBezTo>
                <a:cubicBezTo>
                  <a:pt x="477927" y="422592"/>
                  <a:pt x="500082" y="422592"/>
                  <a:pt x="513725" y="408950"/>
                </a:cubicBezTo>
                <a:lnTo>
                  <a:pt x="618500" y="304175"/>
                </a:lnTo>
                <a:cubicBezTo>
                  <a:pt x="632142" y="290532"/>
                  <a:pt x="632142" y="268377"/>
                  <a:pt x="618500" y="254734"/>
                </a:cubicBezTo>
                <a:lnTo>
                  <a:pt x="513725" y="149959"/>
                </a:lnTo>
                <a:cubicBezTo>
                  <a:pt x="500082" y="136317"/>
                  <a:pt x="477927" y="136317"/>
                  <a:pt x="464284" y="149959"/>
                </a:cubicBezTo>
                <a:close/>
                <a:moveTo>
                  <a:pt x="164475" y="149850"/>
                </a:moveTo>
                <a:cubicBezTo>
                  <a:pt x="150832" y="136208"/>
                  <a:pt x="128677" y="136208"/>
                  <a:pt x="115034" y="149850"/>
                </a:cubicBezTo>
                <a:lnTo>
                  <a:pt x="10259" y="254625"/>
                </a:lnTo>
                <a:cubicBezTo>
                  <a:pt x="-3383" y="268268"/>
                  <a:pt x="-3383" y="290423"/>
                  <a:pt x="10259" y="304066"/>
                </a:cubicBezTo>
                <a:lnTo>
                  <a:pt x="115034" y="408841"/>
                </a:lnTo>
                <a:cubicBezTo>
                  <a:pt x="128677" y="422483"/>
                  <a:pt x="150832" y="422483"/>
                  <a:pt x="164475" y="408841"/>
                </a:cubicBezTo>
                <a:cubicBezTo>
                  <a:pt x="178118" y="395198"/>
                  <a:pt x="178118" y="373043"/>
                  <a:pt x="164475" y="359400"/>
                </a:cubicBezTo>
                <a:lnTo>
                  <a:pt x="84366" y="279400"/>
                </a:lnTo>
                <a:lnTo>
                  <a:pt x="164366" y="199291"/>
                </a:lnTo>
                <a:cubicBezTo>
                  <a:pt x="178008" y="185648"/>
                  <a:pt x="178008" y="163493"/>
                  <a:pt x="164366" y="149850"/>
                </a:cubicBezTo>
                <a:close/>
              </a:path>
            </a:pathLst>
          </a:custGeom>
          <a:solidFill>
            <a:srgbClr val="4BACC6"/>
          </a:solidFill>
        </p:spPr>
      </p:sp>
      <p:sp>
        <p:nvSpPr>
          <p:cNvPr id="13" name="Text 11"/>
          <p:cNvSpPr/>
          <p:nvPr/>
        </p:nvSpPr>
        <p:spPr>
          <a:xfrm>
            <a:off x="13843000" y="4064000"/>
            <a:ext cx="8636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BACC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Методы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60680" y="4953000"/>
            <a:ext cx="9525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Методы определяют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поведение объектов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Это функции внутри класса, которые выполняют операции с данными.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2200" dirty="0">
                <a:solidFill>
                  <a:srgbClr val="4BACC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Пример: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void greet() { ... }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49680" y="8763000"/>
            <a:ext cx="21844000" cy="393700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16" name="Text 14"/>
          <p:cNvSpPr/>
          <p:nvPr/>
        </p:nvSpPr>
        <p:spPr>
          <a:xfrm>
            <a:off x="1757680" y="9017000"/>
            <a:ext cx="2082800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ru-RU" sz="2800" dirty="0">
                <a:solidFill>
                  <a:srgbClr val="00B0F0"/>
                </a:solidFill>
              </a:rPr>
              <a:t>public class Dog {</a:t>
            </a:r>
          </a:p>
          <a:p>
            <a:pPr>
              <a:lnSpc>
                <a:spcPct val="100000"/>
              </a:lnSpc>
            </a:pPr>
            <a:r>
              <a:rPr lang="en-US" altLang="ru-RU" sz="2800" dirty="0">
                <a:solidFill>
                  <a:srgbClr val="00B0F0"/>
                </a:solidFill>
              </a:rPr>
              <a:t>   String name; </a:t>
            </a:r>
            <a:r>
              <a:rPr lang="en-US" altLang="ru-RU" sz="2800" dirty="0">
                <a:solidFill>
                  <a:srgbClr val="FF0000"/>
                </a:solidFill>
              </a:rPr>
              <a:t>// </a:t>
            </a:r>
            <a:r>
              <a:rPr lang="en-US" altLang="en-US" sz="2800" dirty="0">
                <a:solidFill>
                  <a:srgbClr val="FF0000"/>
                </a:solidFill>
              </a:rPr>
              <a:t>Поле</a:t>
            </a:r>
            <a:r>
              <a:rPr lang="en-US" altLang="ru-RU" sz="2800" dirty="0">
                <a:solidFill>
                  <a:srgbClr val="FF0000"/>
                </a:solidFill>
              </a:rPr>
              <a:t> (</a:t>
            </a:r>
            <a:r>
              <a:rPr lang="en-US" altLang="en-US" sz="2800" dirty="0">
                <a:solidFill>
                  <a:srgbClr val="FF0000"/>
                </a:solidFill>
              </a:rPr>
              <a:t>состояние</a:t>
            </a:r>
            <a:r>
              <a:rPr lang="en-US" altLang="ru-RU" sz="2800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endParaRPr lang="en-US" altLang="ru-RU" sz="2800" dirty="0">
              <a:solidFill>
                <a:srgbClr val="00B0F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ru-RU" sz="2800" dirty="0">
                <a:solidFill>
                  <a:srgbClr val="00B0F0"/>
                </a:solidFill>
              </a:rPr>
              <a:t>   void bark() { </a:t>
            </a:r>
            <a:r>
              <a:rPr lang="en-US" altLang="ru-RU" sz="2800" dirty="0">
                <a:solidFill>
                  <a:srgbClr val="FF0000"/>
                </a:solidFill>
              </a:rPr>
              <a:t>// </a:t>
            </a:r>
            <a:r>
              <a:rPr lang="en-US" altLang="en-US" sz="2800" dirty="0">
                <a:solidFill>
                  <a:srgbClr val="FF0000"/>
                </a:solidFill>
              </a:rPr>
              <a:t>Метод</a:t>
            </a:r>
            <a:r>
              <a:rPr lang="en-US" altLang="ru-RU" sz="2800" dirty="0">
                <a:solidFill>
                  <a:srgbClr val="FF0000"/>
                </a:solidFill>
              </a:rPr>
              <a:t> (</a:t>
            </a:r>
            <a:r>
              <a:rPr lang="en-US" altLang="en-US" sz="2800" dirty="0">
                <a:solidFill>
                  <a:srgbClr val="FF0000"/>
                </a:solidFill>
              </a:rPr>
              <a:t>поведение</a:t>
            </a:r>
            <a:r>
              <a:rPr lang="en-US" altLang="ru-RU" sz="2800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ru-RU" sz="2800" dirty="0">
                <a:solidFill>
                  <a:srgbClr val="00B0F0"/>
                </a:solidFill>
              </a:rPr>
              <a:t>      System.out.println(name + " </a:t>
            </a:r>
            <a:r>
              <a:rPr lang="en-US" altLang="en-US" sz="2800" dirty="0">
                <a:solidFill>
                  <a:srgbClr val="00B0F0"/>
                </a:solidFill>
              </a:rPr>
              <a:t>лает</a:t>
            </a:r>
            <a:r>
              <a:rPr lang="en-US" altLang="ru-RU" sz="2800" dirty="0">
                <a:solidFill>
                  <a:srgbClr val="00B0F0"/>
                </a:solidFill>
              </a:rPr>
              <a:t>!");</a:t>
            </a:r>
          </a:p>
          <a:p>
            <a:pPr>
              <a:lnSpc>
                <a:spcPct val="100000"/>
              </a:lnSpc>
            </a:pPr>
            <a:r>
              <a:rPr lang="en-US" altLang="ru-RU" sz="2800" dirty="0">
                <a:solidFill>
                  <a:srgbClr val="00B0F0"/>
                </a:solidFill>
              </a:rPr>
              <a:t>   }</a:t>
            </a:r>
          </a:p>
          <a:p>
            <a:pPr>
              <a:lnSpc>
                <a:spcPct val="100000"/>
              </a:lnSpc>
            </a:pPr>
            <a:r>
              <a:rPr lang="en-US" altLang="ru-RU" sz="2800" dirty="0">
                <a:solidFill>
                  <a:srgbClr val="00B0F0"/>
                </a:solidFill>
              </a:rPr>
              <a:t>}</a:t>
            </a:r>
            <a:endParaRPr lang="en-US" sz="2800" dirty="0">
              <a:solidFill>
                <a:srgbClr val="00B0F0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778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Конструктор и создание объекта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1249680" y="2921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5" name="Text 3"/>
          <p:cNvSpPr/>
          <p:nvPr/>
        </p:nvSpPr>
        <p:spPr>
          <a:xfrm>
            <a:off x="1757680" y="2794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Конструктор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57680" y="3365500"/>
            <a:ext cx="21336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Метод для инициализации объекта. Имя конструктора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совпадает с именем класса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Вызывается автоматически при создании объекта.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49680" y="4699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8" name="Text 6"/>
          <p:cNvSpPr/>
          <p:nvPr/>
        </p:nvSpPr>
        <p:spPr>
          <a:xfrm>
            <a:off x="1757680" y="4572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Оператор new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57680" y="5143500"/>
            <a:ext cx="21336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Выделяет память в куче (heap) под новый объект и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возвращает ссылку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на него.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49680" y="6477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1" name="Text 9"/>
          <p:cNvSpPr/>
          <p:nvPr/>
        </p:nvSpPr>
        <p:spPr>
          <a:xfrm>
            <a:off x="1757680" y="6350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Ключевое слово this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57680" y="6921500"/>
            <a:ext cx="21336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Ссылка на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текущий объект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 Используется для разрешения конфликта имён между полями класса и параметрами методов.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49680" y="8382000"/>
            <a:ext cx="21844000" cy="4318000"/>
          </a:xfrm>
          <a:prstGeom prst="rect">
            <a:avLst/>
          </a:prstGeom>
          <a:solidFill>
            <a:srgbClr val="1E1E1E"/>
          </a:solidFill>
        </p:spPr>
        <p:txBody>
          <a:bodyPr/>
          <a:lstStyle/>
          <a:p>
            <a:endParaRPr lang="ru-RU" altLang="en-US"/>
          </a:p>
        </p:txBody>
      </p:sp>
      <p:sp>
        <p:nvSpPr>
          <p:cNvPr id="14" name="Text 12"/>
          <p:cNvSpPr/>
          <p:nvPr/>
        </p:nvSpPr>
        <p:spPr>
          <a:xfrm>
            <a:off x="1757680" y="8615045"/>
            <a:ext cx="20828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public class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3200" dirty="0">
                <a:solidFill>
                  <a:srgbClr val="4EC9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Person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{</a:t>
            </a:r>
            <a:endParaRPr lang="en-US" sz="3200" dirty="0"/>
          </a:p>
          <a:p>
            <a:pPr indent="457200"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String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name;</a:t>
            </a:r>
            <a:endParaRPr lang="en-US" sz="3200" dirty="0"/>
          </a:p>
          <a:p>
            <a:pPr indent="457200">
              <a:lnSpc>
                <a:spcPct val="100000"/>
              </a:lnSpc>
            </a:pPr>
            <a:r>
              <a:rPr lang="en-US" sz="3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public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3200" dirty="0">
                <a:solidFill>
                  <a:srgbClr val="4EC9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Person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</a:t>
            </a:r>
            <a:r>
              <a:rPr lang="en-US" sz="3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String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name) {</a:t>
            </a:r>
            <a:endParaRPr lang="en-US" sz="3200" dirty="0"/>
          </a:p>
          <a:p>
            <a:pPr marL="457200" lvl="1" indent="457200">
              <a:lnSpc>
                <a:spcPct val="100000"/>
              </a:lnSpc>
            </a:pPr>
            <a:r>
              <a:rPr lang="en-US" sz="3200" dirty="0">
                <a:solidFill>
                  <a:srgbClr val="569CD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this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.name = name; </a:t>
            </a:r>
            <a:r>
              <a:rPr lang="en-US" sz="3200" dirty="0">
                <a:solidFill>
                  <a:srgbClr val="6A99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// this — ссылка на текущий объект</a:t>
            </a:r>
            <a:br>
              <a:rPr lang="en-US" sz="3200" dirty="0">
                <a:solidFill>
                  <a:srgbClr val="6A99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</a:br>
            <a:r>
              <a:rPr lang="en-US" sz="3200" dirty="0">
                <a:solidFill>
                  <a:srgbClr val="6A99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}</a:t>
            </a:r>
            <a:endParaRPr lang="en-US" sz="3200" dirty="0">
              <a:solidFill>
                <a:srgbClr val="00B0F0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}</a:t>
            </a:r>
            <a:endParaRPr lang="en-US" sz="3200" dirty="0"/>
          </a:p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EC9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Person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p = </a:t>
            </a:r>
            <a:r>
              <a:rPr lang="en-US" sz="3200" dirty="0">
                <a:solidFill>
                  <a:srgbClr val="569CD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new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</a:t>
            </a:r>
            <a:r>
              <a:rPr lang="en-US" sz="3200" dirty="0">
                <a:solidFill>
                  <a:srgbClr val="4EC9B0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Person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(</a:t>
            </a:r>
            <a:r>
              <a:rPr lang="en-US" sz="3200" dirty="0">
                <a:solidFill>
                  <a:srgbClr val="CE9178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"Иван"</a:t>
            </a:r>
            <a:r>
              <a:rPr lang="en-US" sz="3200" dirty="0">
                <a:solidFill>
                  <a:srgbClr val="D4D4D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); </a:t>
            </a:r>
            <a:r>
              <a:rPr lang="en-US" sz="3200" dirty="0">
                <a:solidFill>
                  <a:srgbClr val="6A99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// new выделяет память</a:t>
            </a:r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778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Области видимости (Модификаторы)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Text 2"/>
          <p:cNvSpPr/>
          <p:nvPr/>
        </p:nvSpPr>
        <p:spPr>
          <a:xfrm>
            <a:off x="1249680" y="2540000"/>
            <a:ext cx="1079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В Java существует четыре модификатора доступа, которые образуют иерархию от самого открытого к самому закрытому.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249680" y="4064000"/>
          <a:ext cx="10795000" cy="508000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Модификатор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Класс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Пакет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Наследник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292929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Все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public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protected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-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default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-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-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private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+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-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-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FFFF"/>
                          </a:solidFill>
                          <a:latin typeface="Liter, MiSans" pitchFamily="34" charset="0"/>
                          <a:ea typeface="Liter, MiSans" pitchFamily="34" charset="-122"/>
                          <a:cs typeface="Liter, MiSans" pitchFamily="34" charset="-120"/>
                        </a:rPr>
                        <a:t>-</a:t>
                      </a:r>
                      <a:endParaRPr lang="en-US" sz="1800" dirty="0">
                        <a:latin typeface="Liter, MiSans" pitchFamily="34" charset="0"/>
                        <a:ea typeface="Liter, MiSans" pitchFamily="34" charset="0"/>
                        <a:cs typeface="Liter, Mi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3462000" y="3879850"/>
            <a:ext cx="8890000" cy="5263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3946505" y="3486150"/>
            <a:ext cx="8405495" cy="87090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2000">
                <a:solidFill>
                  <a:srgbClr val="00B050"/>
                </a:solidFill>
              </a:rPr>
              <a:t>class Student</a:t>
            </a:r>
            <a:r>
              <a:rPr lang="en-US" altLang="ru-RU" sz="2000">
                <a:solidFill>
                  <a:srgbClr val="00B0F0"/>
                </a:solidFill>
              </a:rPr>
              <a:t> {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public String name = "</a:t>
            </a:r>
            <a:r>
              <a:rPr lang="en-US" altLang="en-US" sz="2000">
                <a:solidFill>
                  <a:srgbClr val="00B0F0"/>
                </a:solidFill>
              </a:rPr>
              <a:t>Владислав</a:t>
            </a:r>
            <a:r>
              <a:rPr lang="en-US" altLang="ru-RU" sz="2000">
                <a:solidFill>
                  <a:srgbClr val="00B0F0"/>
                </a:solidFill>
              </a:rPr>
              <a:t>";       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Публично</a:t>
            </a:r>
            <a:r>
              <a:rPr lang="en-US" altLang="ru-RU" sz="2000">
                <a:solidFill>
                  <a:schemeClr val="accent2"/>
                </a:solidFill>
              </a:rPr>
              <a:t>: </a:t>
            </a:r>
            <a:r>
              <a:rPr lang="en-US" altLang="en-US" sz="2000">
                <a:solidFill>
                  <a:schemeClr val="accent2"/>
                </a:solidFill>
              </a:rPr>
              <a:t>имя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в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списке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группы</a:t>
            </a:r>
            <a:endParaRPr lang="en-US" altLang="en-US" sz="2000">
              <a:solidFill>
                <a:srgbClr val="00B0F0"/>
              </a:solidFill>
            </a:endParaRPr>
          </a:p>
          <a:p>
            <a:r>
              <a:rPr lang="en-US" altLang="ru-RU" sz="2000">
                <a:solidFill>
                  <a:srgbClr val="00B0F0"/>
                </a:solidFill>
              </a:rPr>
              <a:t>    private String portalPassword = "qw123";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Приватный</a:t>
            </a:r>
            <a:r>
              <a:rPr lang="en-US" altLang="ru-RU" sz="2000">
                <a:solidFill>
                  <a:schemeClr val="accent2"/>
                </a:solidFill>
              </a:rPr>
              <a:t>: </a:t>
            </a:r>
            <a:r>
              <a:rPr lang="en-US" altLang="en-US" sz="2000">
                <a:solidFill>
                  <a:schemeClr val="accent2"/>
                </a:solidFill>
              </a:rPr>
              <a:t>доступ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только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у</a:t>
            </a:r>
            <a:r>
              <a:rPr lang="en-US" altLang="ru-RU" sz="2000">
                <a:solidFill>
                  <a:srgbClr val="00B0F0"/>
                </a:solidFill>
              </a:rPr>
              <a:t> </a:t>
            </a:r>
            <a:r>
              <a:rPr lang="en-US" altLang="en-US" sz="2000">
                <a:solidFill>
                  <a:srgbClr val="00B0F0"/>
                </a:solidFill>
              </a:rPr>
              <a:t>студента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protected double scholarship = 5000.0;  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Защищенный</a:t>
            </a:r>
            <a:r>
              <a:rPr lang="en-US" altLang="ru-RU" sz="2000">
                <a:solidFill>
                  <a:schemeClr val="accent2"/>
                </a:solidFill>
              </a:rPr>
              <a:t>: </a:t>
            </a:r>
            <a:r>
              <a:rPr lang="en-US" altLang="en-US" sz="2000">
                <a:solidFill>
                  <a:schemeClr val="accent2"/>
                </a:solidFill>
              </a:rPr>
              <a:t>видят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деканат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и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наследники</a:t>
            </a:r>
            <a:endParaRPr lang="en-US" altLang="en-US" sz="2000">
              <a:solidFill>
                <a:srgbClr val="00B0F0"/>
              </a:solidFill>
            </a:endParaRPr>
          </a:p>
          <a:p>
            <a:r>
              <a:rPr lang="en-US" altLang="ru-RU" sz="2000">
                <a:solidFill>
                  <a:srgbClr val="00B0F0"/>
                </a:solidFill>
              </a:rPr>
              <a:t>    String homeworkLink = "github.com/vlad";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По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умолчанию</a:t>
            </a:r>
            <a:r>
              <a:rPr lang="en-US" altLang="ru-RU" sz="2000">
                <a:solidFill>
                  <a:schemeClr val="accent2"/>
                </a:solidFill>
              </a:rPr>
              <a:t>: </a:t>
            </a:r>
            <a:r>
              <a:rPr lang="en-US" altLang="en-US" sz="2000">
                <a:solidFill>
                  <a:schemeClr val="accent2"/>
                </a:solidFill>
              </a:rPr>
              <a:t>видят</a:t>
            </a:r>
            <a:r>
              <a:rPr lang="en-US" altLang="ru-RU" sz="2000">
                <a:solidFill>
                  <a:schemeClr val="accent2"/>
                </a:solidFill>
              </a:rPr>
              <a:t> "</a:t>
            </a:r>
            <a:r>
              <a:rPr lang="en-US" altLang="en-US" sz="2000">
                <a:solidFill>
                  <a:schemeClr val="accent2"/>
                </a:solidFill>
              </a:rPr>
              <a:t>свои</a:t>
            </a:r>
            <a:r>
              <a:rPr lang="en-US" altLang="ru-RU" sz="2000">
                <a:solidFill>
                  <a:schemeClr val="accent2"/>
                </a:solidFill>
              </a:rPr>
              <a:t>" (</a:t>
            </a:r>
            <a:r>
              <a:rPr lang="en-US" altLang="en-US" sz="2000">
                <a:solidFill>
                  <a:schemeClr val="accent2"/>
                </a:solidFill>
              </a:rPr>
              <a:t>в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этом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пакете</a:t>
            </a:r>
            <a:r>
              <a:rPr lang="en-US" altLang="ru-RU" sz="2000">
                <a:solidFill>
                  <a:schemeClr val="accent2"/>
                </a:solidFill>
              </a:rPr>
              <a:t>)</a:t>
            </a:r>
          </a:p>
          <a:p>
            <a:endParaRPr lang="en-US" altLang="ru-RU" sz="2000">
              <a:solidFill>
                <a:srgbClr val="00B0F0"/>
              </a:solidFill>
            </a:endParaRPr>
          </a:p>
          <a:p>
            <a:r>
              <a:rPr lang="en-US" altLang="ru-RU" sz="2000">
                <a:solidFill>
                  <a:srgbClr val="00B0F0"/>
                </a:solidFill>
              </a:rPr>
              <a:t>    public void takeExam() { /* ... */ }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private void sleepInLecture() { /* ... */ }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}</a:t>
            </a:r>
          </a:p>
          <a:p>
            <a:endParaRPr lang="en-US" altLang="ru-RU" sz="2000">
              <a:solidFill>
                <a:srgbClr val="00B0F0"/>
              </a:solidFill>
            </a:endParaRPr>
          </a:p>
          <a:p>
            <a:r>
              <a:rPr lang="en-US" altLang="ru-RU" sz="2000">
                <a:solidFill>
                  <a:srgbClr val="FF0000"/>
                </a:solidFill>
              </a:rPr>
              <a:t>public class UniversitySystem</a:t>
            </a:r>
            <a:r>
              <a:rPr lang="en-US" altLang="ru-RU" sz="2000">
                <a:solidFill>
                  <a:srgbClr val="00B0F0"/>
                </a:solidFill>
              </a:rPr>
              <a:t> {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public static void main(String[] args) {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Student st = new Student();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System.out.println(st.name);        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ОК</a:t>
            </a:r>
            <a:r>
              <a:rPr lang="en-US" altLang="ru-RU" sz="2000">
                <a:solidFill>
                  <a:schemeClr val="accent2"/>
                </a:solidFill>
              </a:rPr>
              <a:t>: </a:t>
            </a:r>
            <a:r>
              <a:rPr lang="en-US" altLang="en-US" sz="2000">
                <a:solidFill>
                  <a:schemeClr val="accent2"/>
                </a:solidFill>
              </a:rPr>
              <a:t>Имя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открыто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для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всех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System.out.println(st.homeworkLink);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ОК</a:t>
            </a:r>
            <a:r>
              <a:rPr lang="en-US" altLang="ru-RU" sz="2000">
                <a:solidFill>
                  <a:schemeClr val="accent2"/>
                </a:solidFill>
              </a:rPr>
              <a:t>: </a:t>
            </a:r>
            <a:r>
              <a:rPr lang="en-US" altLang="en-US" sz="2000">
                <a:solidFill>
                  <a:schemeClr val="accent2"/>
                </a:solidFill>
              </a:rPr>
              <a:t>Одногруппники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видят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ссылку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// System.out.println(st.portalPassword);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ОШИБКА</a:t>
            </a:r>
            <a:r>
              <a:rPr lang="en-US" altLang="ru-RU" sz="2000">
                <a:solidFill>
                  <a:schemeClr val="accent2"/>
                </a:solidFill>
              </a:rPr>
              <a:t>! </a:t>
            </a:r>
            <a:r>
              <a:rPr lang="en-US" altLang="en-US" sz="2000">
                <a:solidFill>
                  <a:schemeClr val="accent2"/>
                </a:solidFill>
              </a:rPr>
              <a:t>Пароль</a:t>
            </a:r>
            <a:r>
              <a:rPr lang="en-US" altLang="ru-RU" sz="2000">
                <a:solidFill>
                  <a:schemeClr val="accent2"/>
                </a:solidFill>
              </a:rPr>
              <a:t> — </a:t>
            </a:r>
            <a:r>
              <a:rPr lang="en-US" altLang="en-US" sz="2000">
                <a:solidFill>
                  <a:schemeClr val="accent2"/>
                </a:solidFill>
              </a:rPr>
              <a:t>это</a:t>
            </a:r>
            <a:r>
              <a:rPr lang="en-US" altLang="ru-RU" sz="2000">
                <a:solidFill>
                  <a:schemeClr val="accent2"/>
                </a:solidFill>
              </a:rPr>
              <a:t> private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st.takeExam();                      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ОК</a:t>
            </a:r>
            <a:r>
              <a:rPr lang="en-US" altLang="ru-RU" sz="2000">
                <a:solidFill>
                  <a:schemeClr val="accent2"/>
                </a:solidFill>
              </a:rPr>
              <a:t>: </a:t>
            </a:r>
            <a:r>
              <a:rPr lang="en-US" altLang="en-US" sz="2000">
                <a:solidFill>
                  <a:schemeClr val="accent2"/>
                </a:solidFill>
              </a:rPr>
              <a:t>Публичное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действие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// st.sleepInLecture();               </a:t>
            </a:r>
            <a:r>
              <a:rPr lang="en-US" altLang="ru-RU" sz="2000">
                <a:solidFill>
                  <a:schemeClr val="accent2"/>
                </a:solidFill>
              </a:rPr>
              <a:t>// </a:t>
            </a:r>
            <a:r>
              <a:rPr lang="en-US" altLang="en-US" sz="2000">
                <a:solidFill>
                  <a:schemeClr val="accent2"/>
                </a:solidFill>
              </a:rPr>
              <a:t>ОШИБКА</a:t>
            </a:r>
            <a:r>
              <a:rPr lang="en-US" altLang="ru-RU" sz="2000">
                <a:solidFill>
                  <a:schemeClr val="accent2"/>
                </a:solidFill>
              </a:rPr>
              <a:t>! Private </a:t>
            </a:r>
            <a:r>
              <a:rPr lang="en-US" altLang="en-US" sz="2000">
                <a:solidFill>
                  <a:schemeClr val="accent2"/>
                </a:solidFill>
              </a:rPr>
              <a:t>метод</a:t>
            </a:r>
            <a:r>
              <a:rPr lang="en-US" altLang="ru-RU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</a:rPr>
              <a:t>скрыт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}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778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Инкапсуляция и Геттеры/Сеттеры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Text 2"/>
          <p:cNvSpPr/>
          <p:nvPr/>
        </p:nvSpPr>
        <p:spPr>
          <a:xfrm>
            <a:off x="1249680" y="2667000"/>
            <a:ext cx="21844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Инкапсуляция в Java — это механизм </a:t>
            </a:r>
            <a:r>
              <a:rPr lang="en-US" sz="22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связывания данных (полей) и методов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которые манипулируют этими данными, в единый объект, одновременно </a:t>
            </a:r>
            <a:r>
              <a:rPr lang="en-US" sz="2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ограничивая прямой доступ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к некоторым компонентам объекта.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49680" y="4699000"/>
            <a:ext cx="10541000" cy="3556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6" name="Shape 4"/>
          <p:cNvSpPr/>
          <p:nvPr/>
        </p:nvSpPr>
        <p:spPr>
          <a:xfrm>
            <a:off x="1249680" y="4699000"/>
            <a:ext cx="10541000" cy="635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7" name="Shape 5"/>
          <p:cNvSpPr/>
          <p:nvPr/>
        </p:nvSpPr>
        <p:spPr>
          <a:xfrm>
            <a:off x="1725930" y="508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0680" y="-24705"/>
                </a:moveTo>
                <a:cubicBezTo>
                  <a:pt x="31353" y="-34032"/>
                  <a:pt x="16272" y="-34032"/>
                  <a:pt x="7045" y="-24705"/>
                </a:cubicBezTo>
                <a:cubicBezTo>
                  <a:pt x="-2183" y="-15379"/>
                  <a:pt x="-2282" y="-298"/>
                  <a:pt x="6945" y="9029"/>
                </a:cubicBezTo>
                <a:lnTo>
                  <a:pt x="530820" y="532904"/>
                </a:lnTo>
                <a:cubicBezTo>
                  <a:pt x="540147" y="542230"/>
                  <a:pt x="555228" y="542230"/>
                  <a:pt x="564455" y="532904"/>
                </a:cubicBezTo>
                <a:cubicBezTo>
                  <a:pt x="573683" y="523577"/>
                  <a:pt x="573782" y="508496"/>
                  <a:pt x="564455" y="499269"/>
                </a:cubicBezTo>
                <a:lnTo>
                  <a:pt x="468809" y="403622"/>
                </a:lnTo>
                <a:cubicBezTo>
                  <a:pt x="471488" y="401241"/>
                  <a:pt x="474166" y="398859"/>
                  <a:pt x="476746" y="396478"/>
                </a:cubicBezTo>
                <a:cubicBezTo>
                  <a:pt x="523180" y="353318"/>
                  <a:pt x="554236" y="301823"/>
                  <a:pt x="569020" y="266402"/>
                </a:cubicBezTo>
                <a:cubicBezTo>
                  <a:pt x="572294" y="258564"/>
                  <a:pt x="572294" y="249833"/>
                  <a:pt x="569020" y="241995"/>
                </a:cubicBezTo>
                <a:cubicBezTo>
                  <a:pt x="554236" y="206573"/>
                  <a:pt x="523180" y="154980"/>
                  <a:pt x="476746" y="111919"/>
                </a:cubicBezTo>
                <a:cubicBezTo>
                  <a:pt x="430014" y="68560"/>
                  <a:pt x="365820" y="31948"/>
                  <a:pt x="285651" y="31948"/>
                </a:cubicBezTo>
                <a:cubicBezTo>
                  <a:pt x="229295" y="31948"/>
                  <a:pt x="180876" y="50006"/>
                  <a:pt x="140791" y="75803"/>
                </a:cubicBezTo>
                <a:lnTo>
                  <a:pt x="40680" y="-24705"/>
                </a:lnTo>
                <a:close/>
                <a:moveTo>
                  <a:pt x="202902" y="137616"/>
                </a:moveTo>
                <a:cubicBezTo>
                  <a:pt x="226219" y="120948"/>
                  <a:pt x="254893" y="111125"/>
                  <a:pt x="285750" y="111125"/>
                </a:cubicBezTo>
                <a:cubicBezTo>
                  <a:pt x="364629" y="111125"/>
                  <a:pt x="428625" y="175121"/>
                  <a:pt x="428625" y="254000"/>
                </a:cubicBezTo>
                <a:cubicBezTo>
                  <a:pt x="428625" y="284857"/>
                  <a:pt x="418802" y="313432"/>
                  <a:pt x="402134" y="336848"/>
                </a:cubicBezTo>
                <a:lnTo>
                  <a:pt x="367705" y="302419"/>
                </a:lnTo>
                <a:cubicBezTo>
                  <a:pt x="380305" y="281186"/>
                  <a:pt x="384572" y="255091"/>
                  <a:pt x="377726" y="229295"/>
                </a:cubicBezTo>
                <a:cubicBezTo>
                  <a:pt x="364133" y="178495"/>
                  <a:pt x="311845" y="148332"/>
                  <a:pt x="261045" y="161925"/>
                </a:cubicBezTo>
                <a:cubicBezTo>
                  <a:pt x="252512" y="164207"/>
                  <a:pt x="244475" y="167580"/>
                  <a:pt x="237232" y="171847"/>
                </a:cubicBezTo>
                <a:lnTo>
                  <a:pt x="202803" y="137418"/>
                </a:lnTo>
                <a:close/>
                <a:moveTo>
                  <a:pt x="322759" y="392013"/>
                </a:moveTo>
                <a:cubicBezTo>
                  <a:pt x="310952" y="395188"/>
                  <a:pt x="298549" y="396875"/>
                  <a:pt x="285750" y="396875"/>
                </a:cubicBezTo>
                <a:cubicBezTo>
                  <a:pt x="206871" y="396875"/>
                  <a:pt x="142875" y="332879"/>
                  <a:pt x="142875" y="254000"/>
                </a:cubicBezTo>
                <a:cubicBezTo>
                  <a:pt x="142875" y="241201"/>
                  <a:pt x="144562" y="228798"/>
                  <a:pt x="147737" y="216991"/>
                </a:cubicBezTo>
                <a:lnTo>
                  <a:pt x="68858" y="138113"/>
                </a:lnTo>
                <a:cubicBezTo>
                  <a:pt x="36513" y="174625"/>
                  <a:pt x="14288" y="213320"/>
                  <a:pt x="2480" y="241796"/>
                </a:cubicBezTo>
                <a:cubicBezTo>
                  <a:pt x="-794" y="249634"/>
                  <a:pt x="-794" y="258366"/>
                  <a:pt x="2480" y="266204"/>
                </a:cubicBezTo>
                <a:cubicBezTo>
                  <a:pt x="17264" y="301625"/>
                  <a:pt x="48320" y="353219"/>
                  <a:pt x="94754" y="396280"/>
                </a:cubicBezTo>
                <a:cubicBezTo>
                  <a:pt x="141486" y="439638"/>
                  <a:pt x="205680" y="476250"/>
                  <a:pt x="285849" y="476250"/>
                </a:cubicBezTo>
                <a:cubicBezTo>
                  <a:pt x="322858" y="476250"/>
                  <a:pt x="356493" y="468412"/>
                  <a:pt x="386556" y="455811"/>
                </a:cubicBezTo>
                <a:lnTo>
                  <a:pt x="322858" y="392113"/>
                </a:lnTo>
                <a:close/>
              </a:path>
            </a:pathLst>
          </a:custGeom>
          <a:solidFill>
            <a:srgbClr val="7EC0DA"/>
          </a:solidFill>
        </p:spPr>
      </p:sp>
      <p:sp>
        <p:nvSpPr>
          <p:cNvPr id="8" name="Text 6"/>
          <p:cNvSpPr/>
          <p:nvPr/>
        </p:nvSpPr>
        <p:spPr>
          <a:xfrm>
            <a:off x="1757680" y="5778500"/>
            <a:ext cx="952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Геттер (get)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57680" y="6413500"/>
            <a:ext cx="9525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Метод для </a:t>
            </a:r>
            <a:r>
              <a:rPr lang="en-US" sz="2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получения</a:t>
            </a: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значения private поля. Позволяет безопасно читать данные объекта извне.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552680" y="4699000"/>
            <a:ext cx="10541000" cy="3556000"/>
          </a:xfrm>
          <a:prstGeom prst="rect">
            <a:avLst/>
          </a:prstGeom>
          <a:solidFill>
            <a:srgbClr val="3A3A3A"/>
          </a:solidFill>
        </p:spPr>
      </p:sp>
      <p:sp>
        <p:nvSpPr>
          <p:cNvPr id="11" name="Shape 9"/>
          <p:cNvSpPr/>
          <p:nvPr/>
        </p:nvSpPr>
        <p:spPr>
          <a:xfrm>
            <a:off x="12552680" y="4699000"/>
            <a:ext cx="10541000" cy="63500"/>
          </a:xfrm>
          <a:prstGeom prst="rect">
            <a:avLst/>
          </a:prstGeom>
          <a:solidFill>
            <a:srgbClr val="4BACC6"/>
          </a:solidFill>
        </p:spPr>
      </p:sp>
      <p:sp>
        <p:nvSpPr>
          <p:cNvPr id="12" name="Shape 10"/>
          <p:cNvSpPr/>
          <p:nvPr/>
        </p:nvSpPr>
        <p:spPr>
          <a:xfrm>
            <a:off x="13060680" y="508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0143" y="21034"/>
                </a:moveTo>
                <a:lnTo>
                  <a:pt x="305594" y="65584"/>
                </a:lnTo>
                <a:lnTo>
                  <a:pt x="442416" y="202406"/>
                </a:lnTo>
                <a:lnTo>
                  <a:pt x="486966" y="157857"/>
                </a:lnTo>
                <a:cubicBezTo>
                  <a:pt x="500459" y="144463"/>
                  <a:pt x="508000" y="126206"/>
                  <a:pt x="508000" y="107156"/>
                </a:cubicBezTo>
                <a:cubicBezTo>
                  <a:pt x="508000" y="88106"/>
                  <a:pt x="500459" y="69850"/>
                  <a:pt x="486966" y="56455"/>
                </a:cubicBezTo>
                <a:lnTo>
                  <a:pt x="451545" y="21034"/>
                </a:lnTo>
                <a:cubicBezTo>
                  <a:pt x="438150" y="7541"/>
                  <a:pt x="419894" y="0"/>
                  <a:pt x="400844" y="0"/>
                </a:cubicBezTo>
                <a:cubicBezTo>
                  <a:pt x="381794" y="0"/>
                  <a:pt x="363538" y="7541"/>
                  <a:pt x="350143" y="21034"/>
                </a:cubicBezTo>
                <a:close/>
                <a:moveTo>
                  <a:pt x="271959" y="99219"/>
                </a:moveTo>
                <a:lnTo>
                  <a:pt x="58440" y="312638"/>
                </a:lnTo>
                <a:cubicBezTo>
                  <a:pt x="47823" y="323255"/>
                  <a:pt x="40084" y="336550"/>
                  <a:pt x="36016" y="351036"/>
                </a:cubicBezTo>
                <a:lnTo>
                  <a:pt x="893" y="477838"/>
                </a:lnTo>
                <a:cubicBezTo>
                  <a:pt x="-1389" y="486073"/>
                  <a:pt x="893" y="495002"/>
                  <a:pt x="7045" y="501055"/>
                </a:cubicBezTo>
                <a:cubicBezTo>
                  <a:pt x="13196" y="507107"/>
                  <a:pt x="22027" y="509488"/>
                  <a:pt x="30262" y="507206"/>
                </a:cubicBezTo>
                <a:lnTo>
                  <a:pt x="157063" y="471984"/>
                </a:lnTo>
                <a:cubicBezTo>
                  <a:pt x="171549" y="467916"/>
                  <a:pt x="184745" y="460276"/>
                  <a:pt x="195461" y="449560"/>
                </a:cubicBezTo>
                <a:lnTo>
                  <a:pt x="408781" y="236041"/>
                </a:lnTo>
                <a:lnTo>
                  <a:pt x="271959" y="99219"/>
                </a:lnTo>
                <a:close/>
              </a:path>
            </a:pathLst>
          </a:custGeom>
          <a:solidFill>
            <a:srgbClr val="4BACC6"/>
          </a:solidFill>
        </p:spPr>
      </p:sp>
      <p:sp>
        <p:nvSpPr>
          <p:cNvPr id="13" name="Text 11"/>
          <p:cNvSpPr/>
          <p:nvPr/>
        </p:nvSpPr>
        <p:spPr>
          <a:xfrm>
            <a:off x="13060680" y="5778500"/>
            <a:ext cx="952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4BACC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Сеттер (set)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60680" y="6413500"/>
            <a:ext cx="9525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Метод для </a:t>
            </a:r>
            <a:r>
              <a:rPr lang="en-US" sz="20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изменения</a:t>
            </a:r>
            <a:r>
              <a:rPr lang="en-US" sz="20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значения private поля. Позволяет контролировать и валидировать новые значения.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49680" y="8763000"/>
            <a:ext cx="10541000" cy="393700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16" name="Text 14"/>
          <p:cNvSpPr/>
          <p:nvPr/>
        </p:nvSpPr>
        <p:spPr>
          <a:xfrm>
            <a:off x="1757680" y="9017000"/>
            <a:ext cx="1003427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endParaRPr lang="en-US" altLang="ru-RU" sz="1600" dirty="0"/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1249680" y="8763000"/>
            <a:ext cx="8395335" cy="2662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ru-RU" sz="2400">
                <a:solidFill>
                  <a:srgbClr val="00B0F0"/>
                </a:solidFill>
              </a:rPr>
              <a:t>public class Program {</a:t>
            </a:r>
          </a:p>
          <a:p>
            <a:r>
              <a:rPr lang="en-US" altLang="ru-RU" sz="2400">
                <a:solidFill>
                  <a:srgbClr val="00B0F0"/>
                </a:solidFill>
              </a:rPr>
              <a:t>    public static void main(String[] args) {</a:t>
            </a:r>
          </a:p>
          <a:p>
            <a:r>
              <a:rPr lang="en-US" altLang="ru-RU" sz="2400">
                <a:solidFill>
                  <a:srgbClr val="00B0F0"/>
                </a:solidFill>
              </a:rPr>
              <a:t>        Person kate = new Person("Kate", 30);</a:t>
            </a:r>
          </a:p>
          <a:p>
            <a:endParaRPr lang="en-US" altLang="ru-RU" sz="2400">
              <a:solidFill>
                <a:srgbClr val="00B0F0"/>
              </a:solidFill>
            </a:endParaRPr>
          </a:p>
          <a:p>
            <a:r>
              <a:rPr lang="en-US" altLang="ru-RU" sz="2400">
                <a:solidFill>
                  <a:srgbClr val="00B0F0"/>
                </a:solidFill>
              </a:rPr>
              <a:t>        kate.setAge(33);      </a:t>
            </a:r>
            <a:r>
              <a:rPr lang="en-US" altLang="ru-RU" sz="2400">
                <a:solidFill>
                  <a:srgbClr val="FF0000"/>
                </a:solidFill>
              </a:rPr>
              <a:t>// </a:t>
            </a:r>
            <a:r>
              <a:rPr lang="en-US" altLang="en-US" sz="2400">
                <a:solidFill>
                  <a:srgbClr val="FF0000"/>
                </a:solidFill>
              </a:rPr>
              <a:t>Корректно</a:t>
            </a:r>
            <a:r>
              <a:rPr lang="en-US" altLang="ru-RU" sz="2400">
                <a:solidFill>
                  <a:srgbClr val="FF0000"/>
                </a:solidFill>
              </a:rPr>
              <a:t>: </a:t>
            </a:r>
            <a:r>
              <a:rPr lang="en-US" altLang="en-US" sz="2400">
                <a:solidFill>
                  <a:srgbClr val="FF0000"/>
                </a:solidFill>
              </a:rPr>
              <a:t>возраст</a:t>
            </a:r>
            <a:r>
              <a:rPr lang="en-US" altLang="ru-RU" sz="2400">
                <a:solidFill>
                  <a:srgbClr val="FF0000"/>
                </a:solidFill>
              </a:rPr>
              <a:t> </a:t>
            </a:r>
            <a:r>
              <a:rPr lang="en-US" altLang="en-US" sz="2400">
                <a:solidFill>
                  <a:srgbClr val="FF0000"/>
                </a:solidFill>
              </a:rPr>
              <a:t>изменится</a:t>
            </a:r>
          </a:p>
          <a:p>
            <a:r>
              <a:rPr lang="en-US" altLang="ru-RU" sz="2400">
                <a:solidFill>
                  <a:srgbClr val="00B0F0"/>
                </a:solidFill>
              </a:rPr>
              <a:t>        kate.setAge(1000);    </a:t>
            </a:r>
            <a:r>
              <a:rPr lang="en-US" altLang="ru-RU" sz="2400">
                <a:solidFill>
                  <a:srgbClr val="FF0000"/>
                </a:solidFill>
              </a:rPr>
              <a:t>// </a:t>
            </a:r>
            <a:r>
              <a:rPr lang="en-US" altLang="en-US" sz="2400">
                <a:solidFill>
                  <a:srgbClr val="FF0000"/>
                </a:solidFill>
              </a:rPr>
              <a:t>Ошибка</a:t>
            </a:r>
            <a:r>
              <a:rPr lang="en-US" altLang="ru-RU" sz="2400">
                <a:solidFill>
                  <a:srgbClr val="FF0000"/>
                </a:solidFill>
              </a:rPr>
              <a:t>: </a:t>
            </a:r>
            <a:r>
              <a:rPr lang="en-US" altLang="en-US" sz="2400">
                <a:solidFill>
                  <a:srgbClr val="FF0000"/>
                </a:solidFill>
              </a:rPr>
              <a:t>сеттер</a:t>
            </a:r>
            <a:r>
              <a:rPr lang="en-US" altLang="ru-RU" sz="2400">
                <a:solidFill>
                  <a:srgbClr val="FF0000"/>
                </a:solidFill>
              </a:rPr>
              <a:t> </a:t>
            </a:r>
            <a:r>
              <a:rPr lang="en-US" altLang="en-US" sz="2400">
                <a:solidFill>
                  <a:srgbClr val="FF0000"/>
                </a:solidFill>
              </a:rPr>
              <a:t>проигнорирует</a:t>
            </a:r>
            <a:r>
              <a:rPr lang="en-US" altLang="ru-RU" sz="2400">
                <a:solidFill>
                  <a:srgbClr val="FF0000"/>
                </a:solidFill>
              </a:rPr>
              <a:t> </a:t>
            </a:r>
            <a:r>
              <a:rPr lang="en-US" altLang="en-US" sz="2400">
                <a:solidFill>
                  <a:srgbClr val="FF0000"/>
                </a:solidFill>
              </a:rPr>
              <a:t>значение</a:t>
            </a:r>
          </a:p>
          <a:p>
            <a:r>
              <a:rPr lang="en-US" altLang="ru-RU" sz="2400">
                <a:solidFill>
                  <a:srgbClr val="00B0F0"/>
                </a:solidFill>
              </a:rPr>
              <a:t>        </a:t>
            </a:r>
          </a:p>
          <a:p>
            <a:r>
              <a:rPr lang="en-US" altLang="ru-RU" sz="2400">
                <a:solidFill>
                  <a:srgbClr val="00B0F0"/>
                </a:solidFill>
              </a:rPr>
              <a:t>        System.out.println(kate.getAge()); // </a:t>
            </a:r>
            <a:r>
              <a:rPr lang="en-US" altLang="en-US" sz="2400">
                <a:solidFill>
                  <a:srgbClr val="00B0F0"/>
                </a:solidFill>
              </a:rPr>
              <a:t>Выведет</a:t>
            </a:r>
            <a:r>
              <a:rPr lang="en-US" altLang="ru-RU" sz="2400">
                <a:solidFill>
                  <a:srgbClr val="00B0F0"/>
                </a:solidFill>
              </a:rPr>
              <a:t>: 33</a:t>
            </a:r>
          </a:p>
          <a:p>
            <a:r>
              <a:rPr lang="en-US" altLang="ru-RU" sz="2400">
                <a:solidFill>
                  <a:srgbClr val="00B0F0"/>
                </a:solidFill>
              </a:rPr>
              <a:t>    }</a:t>
            </a:r>
          </a:p>
          <a:p>
            <a:r>
              <a:rPr lang="en-US" altLang="ru-RU" sz="2400">
                <a:solidFill>
                  <a:srgbClr val="00B0F0"/>
                </a:solidFill>
              </a:rPr>
              <a:t>}</a:t>
            </a:r>
          </a:p>
          <a:p>
            <a:endParaRPr lang="ru-RU" altLang="en-US" sz="2400"/>
          </a:p>
        </p:txBody>
      </p:sp>
      <p:sp>
        <p:nvSpPr>
          <p:cNvPr id="18" name="Shape 13"/>
          <p:cNvSpPr/>
          <p:nvPr/>
        </p:nvSpPr>
        <p:spPr>
          <a:xfrm>
            <a:off x="12552680" y="8890000"/>
            <a:ext cx="10541000" cy="393700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19" name="Текстовое поле 18"/>
          <p:cNvSpPr txBox="1"/>
          <p:nvPr/>
        </p:nvSpPr>
        <p:spPr>
          <a:xfrm>
            <a:off x="12560935" y="8900160"/>
            <a:ext cx="1053274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>
                <a:solidFill>
                  <a:srgbClr val="00B0F0"/>
                </a:solidFill>
              </a:rPr>
              <a:t>class Person {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private int age; </a:t>
            </a:r>
            <a:r>
              <a:rPr lang="en-US" altLang="ru-RU" sz="2000">
                <a:solidFill>
                  <a:srgbClr val="FF0000"/>
                </a:solidFill>
              </a:rPr>
              <a:t>// </a:t>
            </a:r>
            <a:r>
              <a:rPr lang="en-US" altLang="en-US" sz="2000">
                <a:solidFill>
                  <a:srgbClr val="FF0000"/>
                </a:solidFill>
              </a:rPr>
              <a:t>Поле</a:t>
            </a:r>
            <a:r>
              <a:rPr lang="en-US" altLang="ru-RU" sz="20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закрыто</a:t>
            </a:r>
            <a:r>
              <a:rPr lang="en-US" altLang="ru-RU" sz="2000">
                <a:solidFill>
                  <a:srgbClr val="FF0000"/>
                </a:solidFill>
              </a:rPr>
              <a:t> (private)</a:t>
            </a:r>
          </a:p>
          <a:p>
            <a:endParaRPr lang="en-US" altLang="ru-RU" sz="2000">
              <a:solidFill>
                <a:srgbClr val="00B0F0"/>
              </a:solidFill>
            </a:endParaRPr>
          </a:p>
          <a:p>
            <a:r>
              <a:rPr lang="en-US" altLang="ru-RU" sz="2000">
                <a:solidFill>
                  <a:srgbClr val="00B0F0"/>
                </a:solidFill>
              </a:rPr>
              <a:t>    public Person(String name, int age) { this.age = age; }</a:t>
            </a:r>
          </a:p>
          <a:p>
            <a:endParaRPr lang="en-US" altLang="ru-RU" sz="2000">
              <a:solidFill>
                <a:srgbClr val="00B0F0"/>
              </a:solidFill>
            </a:endParaRPr>
          </a:p>
          <a:p>
            <a:r>
              <a:rPr lang="en-US" altLang="ru-RU" sz="2000">
                <a:solidFill>
                  <a:srgbClr val="00B0F0"/>
                </a:solidFill>
              </a:rPr>
              <a:t>   </a:t>
            </a:r>
            <a:r>
              <a:rPr lang="en-US" altLang="ru-RU" sz="2000">
                <a:solidFill>
                  <a:srgbClr val="FF0000"/>
                </a:solidFill>
              </a:rPr>
              <a:t> // </a:t>
            </a:r>
            <a:r>
              <a:rPr lang="en-US" altLang="en-US" sz="2000">
                <a:solidFill>
                  <a:srgbClr val="FF0000"/>
                </a:solidFill>
              </a:rPr>
              <a:t>Геттер</a:t>
            </a:r>
            <a:r>
              <a:rPr lang="en-US" altLang="ru-RU" sz="2000">
                <a:solidFill>
                  <a:srgbClr val="FF0000"/>
                </a:solidFill>
              </a:rPr>
              <a:t>: </a:t>
            </a:r>
            <a:r>
              <a:rPr lang="en-US" altLang="en-US" sz="2000">
                <a:solidFill>
                  <a:srgbClr val="FF0000"/>
                </a:solidFill>
              </a:rPr>
              <a:t>просто</a:t>
            </a:r>
            <a:r>
              <a:rPr lang="en-US" altLang="ru-RU" sz="20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возвращает</a:t>
            </a:r>
            <a:r>
              <a:rPr lang="en-US" altLang="ru-RU" sz="20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значение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public int getAge() { return age; }</a:t>
            </a:r>
          </a:p>
          <a:p>
            <a:endParaRPr lang="en-US" altLang="ru-RU" sz="2000">
              <a:solidFill>
                <a:srgbClr val="00B0F0"/>
              </a:solidFill>
            </a:endParaRPr>
          </a:p>
          <a:p>
            <a:r>
              <a:rPr lang="en-US" altLang="ru-RU" sz="2000">
                <a:solidFill>
                  <a:srgbClr val="00B0F0"/>
                </a:solidFill>
              </a:rPr>
              <a:t>    </a:t>
            </a:r>
            <a:r>
              <a:rPr lang="en-US" altLang="ru-RU" sz="2000">
                <a:solidFill>
                  <a:srgbClr val="FF0000"/>
                </a:solidFill>
              </a:rPr>
              <a:t>// </a:t>
            </a:r>
            <a:r>
              <a:rPr lang="en-US" altLang="en-US" sz="2000">
                <a:solidFill>
                  <a:srgbClr val="FF0000"/>
                </a:solidFill>
              </a:rPr>
              <a:t>Сеттер</a:t>
            </a:r>
            <a:r>
              <a:rPr lang="en-US" altLang="ru-RU" sz="2000">
                <a:solidFill>
                  <a:srgbClr val="FF0000"/>
                </a:solidFill>
              </a:rPr>
              <a:t>: </a:t>
            </a:r>
            <a:r>
              <a:rPr lang="en-US" altLang="en-US" sz="2000">
                <a:solidFill>
                  <a:srgbClr val="FF0000"/>
                </a:solidFill>
              </a:rPr>
              <a:t>проверяет</a:t>
            </a:r>
            <a:r>
              <a:rPr lang="en-US" altLang="ru-RU" sz="20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данные</a:t>
            </a:r>
            <a:r>
              <a:rPr lang="en-US" altLang="ru-RU" sz="20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перед</a:t>
            </a:r>
            <a:r>
              <a:rPr lang="en-US" altLang="ru-RU" sz="2000">
                <a:solidFill>
                  <a:srgbClr val="FF00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записью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public void setAge(int age) {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    if (age &gt; 0 &amp;&amp; age &lt; 110) this.age = age;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    }</a:t>
            </a:r>
          </a:p>
          <a:p>
            <a:r>
              <a:rPr lang="en-US" altLang="ru-RU" sz="2000">
                <a:solidFill>
                  <a:srgbClr val="00B0F0"/>
                </a:solidFill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270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Наследование (Классов)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Text 2"/>
          <p:cNvSpPr/>
          <p:nvPr/>
        </p:nvSpPr>
        <p:spPr>
          <a:xfrm>
            <a:off x="1249680" y="2603500"/>
            <a:ext cx="1079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Наследование в Java — механизм ООП, позволяющий создавать новые классы на основе существующих, заимствуя их </a:t>
            </a:r>
            <a:r>
              <a:rPr lang="en-US" sz="220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свойства и поведение</a:t>
            </a:r>
            <a:r>
              <a:rPr lang="en-US" sz="2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49680" y="4318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1757680" y="4191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extends</a:t>
            </a:r>
            <a:r>
              <a:rPr lang="en-US" sz="2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ключевое слово для наследования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9680" y="50165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8" name="Text 6"/>
          <p:cNvSpPr/>
          <p:nvPr/>
        </p:nvSpPr>
        <p:spPr>
          <a:xfrm>
            <a:off x="1757680" y="48895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Позволяет </a:t>
            </a:r>
            <a:r>
              <a:rPr lang="en-US" sz="2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расширять</a:t>
            </a:r>
            <a:r>
              <a:rPr lang="en-US" sz="2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существующий код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49680" y="5715000"/>
            <a:ext cx="215900" cy="215900"/>
          </a:xfrm>
          <a:prstGeom prst="ellipse">
            <a:avLst/>
          </a:prstGeom>
          <a:solidFill>
            <a:srgbClr val="7EC0DA"/>
          </a:solidFill>
        </p:spPr>
      </p:sp>
      <p:sp>
        <p:nvSpPr>
          <p:cNvPr id="10" name="Text 8"/>
          <p:cNvSpPr/>
          <p:nvPr/>
        </p:nvSpPr>
        <p:spPr>
          <a:xfrm>
            <a:off x="1757680" y="5588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super</a:t>
            </a:r>
            <a:r>
              <a:rPr lang="en-US" sz="24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обращение к родительскому классу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30680" y="6858000"/>
            <a:ext cx="10033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0" y="2603500"/>
            <a:ext cx="10414000" cy="7556500"/>
          </a:xfrm>
          <a:prstGeom prst="rect">
            <a:avLst/>
          </a:prstGeom>
          <a:solidFill>
            <a:srgbClr val="3A3A3A"/>
          </a:solidFill>
          <a:ln w="25400">
            <a:solidFill>
              <a:srgbClr val="7EC0D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2699365" y="2602865"/>
            <a:ext cx="10414635" cy="7557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457200"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class Person {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private String name;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public Person(String name) { this.name = name; } </a:t>
            </a:r>
            <a:r>
              <a:rPr lang="en-US" altLang="ru-RU" sz="2400" dirty="0">
                <a:solidFill>
                  <a:srgbClr val="FF0000"/>
                </a:solidFill>
              </a:rPr>
              <a:t>// </a:t>
            </a:r>
            <a:r>
              <a:rPr lang="en-US" altLang="en-US" sz="2400" dirty="0">
                <a:solidFill>
                  <a:srgbClr val="FF0000"/>
                </a:solidFill>
              </a:rPr>
              <a:t>Конструктор</a:t>
            </a:r>
            <a:r>
              <a:rPr lang="en-US" altLang="ru-RU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родителя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public String getName() { return name; }</a:t>
            </a:r>
          </a:p>
          <a:p>
            <a:pPr indent="457200"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}</a:t>
            </a:r>
          </a:p>
          <a:p>
            <a:pPr algn="just">
              <a:lnSpc>
                <a:spcPct val="100000"/>
              </a:lnSpc>
            </a:pPr>
            <a:endParaRPr lang="en-US" altLang="ru-RU" sz="2400" dirty="0">
              <a:solidFill>
                <a:srgbClr val="00B0F0"/>
              </a:solidFill>
            </a:endParaRPr>
          </a:p>
          <a:p>
            <a:pPr indent="457200" algn="just">
              <a:lnSpc>
                <a:spcPct val="100000"/>
              </a:lnSpc>
            </a:pPr>
            <a:r>
              <a:rPr lang="ru-RU" altLang="en-US" sz="2400" dirty="0">
                <a:solidFill>
                  <a:srgbClr val="00B0F0"/>
                </a:solidFill>
              </a:rPr>
              <a:t>с</a:t>
            </a:r>
            <a:r>
              <a:rPr lang="en-US" altLang="ru-RU" sz="2400" dirty="0">
                <a:solidFill>
                  <a:srgbClr val="00B0F0"/>
                </a:solidFill>
              </a:rPr>
              <a:t>lass Employee extends Person {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private String company;</a:t>
            </a:r>
          </a:p>
          <a:p>
            <a:pPr algn="just">
              <a:lnSpc>
                <a:spcPct val="100000"/>
              </a:lnSpc>
            </a:pPr>
            <a:endParaRPr lang="en-US" altLang="ru-RU" sz="2400" dirty="0">
              <a:solidFill>
                <a:srgbClr val="00B0F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public Employee(String name, String comp) {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super(name);       </a:t>
            </a:r>
            <a:r>
              <a:rPr lang="en-US" altLang="ru-RU" sz="2400" dirty="0">
                <a:solidFill>
                  <a:srgbClr val="FF0000"/>
                </a:solidFill>
              </a:rPr>
              <a:t>// </a:t>
            </a:r>
            <a:r>
              <a:rPr lang="en-US" altLang="en-US" sz="2400" dirty="0">
                <a:solidFill>
                  <a:srgbClr val="FF0000"/>
                </a:solidFill>
              </a:rPr>
              <a:t>ПЕРЕДАЕМ</a:t>
            </a:r>
            <a:r>
              <a:rPr lang="en-US" altLang="ru-RU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имя</a:t>
            </a:r>
            <a:r>
              <a:rPr lang="en-US" altLang="ru-RU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в</a:t>
            </a:r>
            <a:r>
              <a:rPr lang="en-US" altLang="ru-RU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конструктор</a:t>
            </a:r>
            <a:r>
              <a:rPr lang="en-US" altLang="ru-RU" sz="2400" dirty="0">
                <a:solidFill>
                  <a:srgbClr val="FF0000"/>
                </a:solidFill>
              </a:rPr>
              <a:t> </a:t>
            </a:r>
            <a:r>
              <a:rPr lang="en-US" altLang="en-US" sz="2400" dirty="0">
                <a:solidFill>
                  <a:srgbClr val="FF0000"/>
                </a:solidFill>
              </a:rPr>
              <a:t>родителя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this.company = comp;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}</a:t>
            </a:r>
          </a:p>
          <a:p>
            <a:pPr algn="just">
              <a:lnSpc>
                <a:spcPct val="100000"/>
              </a:lnSpc>
            </a:pPr>
            <a:endParaRPr lang="en-US" altLang="ru-RU" sz="2400" dirty="0">
              <a:solidFill>
                <a:srgbClr val="00B0F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void work() {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    </a:t>
            </a:r>
            <a:r>
              <a:rPr lang="ru-RU" altLang="en-US" sz="2400" dirty="0">
                <a:solidFill>
                  <a:srgbClr val="00B0F0"/>
                </a:solidFill>
              </a:rPr>
              <a:t>		</a:t>
            </a:r>
            <a:r>
              <a:rPr lang="en-US" altLang="ru-RU" sz="2400" dirty="0">
                <a:solidFill>
                  <a:srgbClr val="00B0F0"/>
                </a:solidFill>
              </a:rPr>
              <a:t>System.out.println(getName() + " </a:t>
            </a:r>
            <a:r>
              <a:rPr lang="en-US" altLang="en-US" sz="2400" dirty="0">
                <a:solidFill>
                  <a:srgbClr val="00B0F0"/>
                </a:solidFill>
              </a:rPr>
              <a:t>работает</a:t>
            </a:r>
            <a:r>
              <a:rPr lang="en-US" altLang="ru-RU" sz="2400" dirty="0">
                <a:solidFill>
                  <a:srgbClr val="00B0F0"/>
                </a:solidFill>
              </a:rPr>
              <a:t> </a:t>
            </a:r>
            <a:r>
              <a:rPr lang="en-US" altLang="en-US" sz="2400" dirty="0">
                <a:solidFill>
                  <a:srgbClr val="00B0F0"/>
                </a:solidFill>
              </a:rPr>
              <a:t>в</a:t>
            </a:r>
            <a:r>
              <a:rPr lang="en-US" altLang="ru-RU" sz="2400" dirty="0">
                <a:solidFill>
                  <a:srgbClr val="00B0F0"/>
                </a:solidFill>
              </a:rPr>
              <a:t> " + company);</a:t>
            </a:r>
          </a:p>
          <a:p>
            <a:pPr algn="just">
              <a:lnSpc>
                <a:spcPct val="100000"/>
              </a:lnSpc>
            </a:pPr>
            <a:r>
              <a:rPr lang="en-US" altLang="ru-RU" sz="2400" dirty="0">
                <a:solidFill>
                  <a:srgbClr val="00B0F0"/>
                </a:solidFill>
              </a:rPr>
              <a:t>    </a:t>
            </a:r>
            <a:r>
              <a:rPr lang="ru-RU" altLang="en-US" sz="2400" dirty="0">
                <a:solidFill>
                  <a:srgbClr val="00B0F0"/>
                </a:solidFill>
              </a:rPr>
              <a:t>	</a:t>
            </a:r>
            <a:r>
              <a:rPr lang="en-US" altLang="ru-RU" sz="2400" dirty="0">
                <a:solidFill>
                  <a:srgbClr val="00B0F0"/>
                </a:solidFill>
              </a:rPr>
              <a:t>}</a:t>
            </a:r>
          </a:p>
          <a:p>
            <a:pPr algn="ctr">
              <a:lnSpc>
                <a:spcPct val="100000"/>
              </a:lnSpc>
            </a:pPr>
            <a:r>
              <a:rPr lang="en-US" altLang="ru-RU" sz="1600" dirty="0"/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548" y="1016000"/>
            <a:ext cx="1524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Traditional Arabic" panose="02020603050405020304" pitchFamily="18" charset="-78"/>
                <a:ea typeface="Liter" panose="02000503030000020004" pitchFamily="34" charset="-122"/>
                <a:cs typeface="Traditional Arabic" panose="02020603050405020304" pitchFamily="18" charset="-78"/>
              </a:rPr>
              <a:t>Наследование (интерфейсов)</a:t>
            </a:r>
            <a:endParaRPr lang="en-US" sz="6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608548" y="2793999"/>
            <a:ext cx="10238128" cy="5009931"/>
          </a:xfrm>
          <a:prstGeom prst="rect">
            <a:avLst/>
          </a:prstGeom>
          <a:solidFill>
            <a:srgbClr val="3A3A3A"/>
          </a:solidFill>
          <a:ln w="25400">
            <a:solidFill>
              <a:srgbClr val="555555"/>
            </a:solidFill>
            <a:prstDash val="dash"/>
          </a:ln>
        </p:spPr>
        <p:txBody>
          <a:bodyPr/>
          <a:lstStyle/>
          <a:p>
            <a:r>
              <a:rPr lang="ru-RU" sz="3600" b="1" i="0" dirty="0">
                <a:solidFill>
                  <a:schemeClr val="bg1"/>
                </a:solidFill>
                <a:effectLst/>
                <a:latin typeface="YS Text"/>
                <a:cs typeface="Traditional Arabic" panose="02020603050405020304" pitchFamily="18" charset="-78"/>
              </a:rPr>
              <a:t>Интерфейс в Java</a:t>
            </a:r>
            <a:r>
              <a:rPr lang="ru-RU" sz="3600" b="0" i="0" dirty="0">
                <a:solidFill>
                  <a:schemeClr val="bg1"/>
                </a:solidFill>
                <a:effectLst/>
                <a:latin typeface="YS Text"/>
                <a:cs typeface="Traditional Arabic" panose="02020603050405020304" pitchFamily="18" charset="-78"/>
              </a:rPr>
              <a:t> — это специальный тип, определяющий набор методов, которые должны быть реализованы классами</a:t>
            </a:r>
            <a:r>
              <a:rPr lang="en-US" sz="3600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. </a:t>
            </a:r>
            <a:br>
              <a:rPr lang="en-US" sz="3600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ru-RU" sz="3600" dirty="0">
              <a:solidFill>
                <a:schemeClr val="bg1"/>
              </a:solidFill>
              <a:latin typeface="YS Text"/>
              <a:cs typeface="Traditional Arabic" panose="02020603050405020304" pitchFamily="18" charset="-78"/>
            </a:endParaRPr>
          </a:p>
          <a:p>
            <a:r>
              <a:rPr lang="ru-RU" sz="3600" b="0" i="0" dirty="0">
                <a:solidFill>
                  <a:schemeClr val="bg1"/>
                </a:solidFill>
                <a:effectLst/>
                <a:latin typeface="YS Text"/>
                <a:cs typeface="Traditional Arabic" panose="02020603050405020304" pitchFamily="18" charset="-78"/>
              </a:rPr>
              <a:t>До </a:t>
            </a:r>
            <a:r>
              <a:rPr lang="en-US" sz="3600" b="0" i="0" dirty="0">
                <a:solidFill>
                  <a:schemeClr val="bg1"/>
                </a:solidFill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java 8 </a:t>
            </a:r>
            <a:r>
              <a:rPr lang="ru-RU" sz="3600" dirty="0">
                <a:solidFill>
                  <a:schemeClr val="bg1"/>
                </a:solidFill>
                <a:latin typeface="YS Text"/>
                <a:cs typeface="Traditional Arabic" panose="02020603050405020304" pitchFamily="18" charset="-78"/>
              </a:rPr>
              <a:t>интерфейс мог содержать только абстрактные методы и константы, начиная с </a:t>
            </a:r>
            <a:r>
              <a:rPr lang="en-US" sz="3600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java 8</a:t>
            </a:r>
            <a:r>
              <a:rPr lang="ru-RU" sz="3600" dirty="0">
                <a:solidFill>
                  <a:schemeClr val="bg1"/>
                </a:solidFill>
                <a:latin typeface="YS Text"/>
                <a:cs typeface="Traditional Arabic" panose="02020603050405020304" pitchFamily="18" charset="-78"/>
              </a:rPr>
              <a:t> может содержать метод </a:t>
            </a:r>
            <a:r>
              <a:rPr lang="en-US" sz="3600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default</a:t>
            </a:r>
            <a:r>
              <a:rPr lang="ru-RU" sz="3600" dirty="0">
                <a:solidFill>
                  <a:schemeClr val="bg1"/>
                </a:solidFill>
                <a:latin typeface="YS Text"/>
                <a:cs typeface="Traditional Arabic" panose="02020603050405020304" pitchFamily="18" charset="-78"/>
              </a:rPr>
              <a:t>, а с </a:t>
            </a:r>
            <a:r>
              <a:rPr lang="en-US" sz="3600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java 9 </a:t>
            </a:r>
            <a:r>
              <a:rPr lang="ru-RU" sz="3600" dirty="0">
                <a:solidFill>
                  <a:schemeClr val="bg1"/>
                </a:solidFill>
                <a:latin typeface="YS Text"/>
                <a:cs typeface="Traditional Arabic" panose="02020603050405020304" pitchFamily="18" charset="-78"/>
              </a:rPr>
              <a:t>появилась возможность определить приватный метод.</a:t>
            </a:r>
            <a:endParaRPr lang="en-US" sz="3600" b="0" i="0" dirty="0">
              <a:solidFill>
                <a:schemeClr val="bg1"/>
              </a:solidFill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endParaRPr lang="ru-RU" dirty="0"/>
          </a:p>
        </p:txBody>
      </p:sp>
      <p:sp>
        <p:nvSpPr>
          <p:cNvPr id="6" name="Text 4"/>
          <p:cNvSpPr/>
          <p:nvPr/>
        </p:nvSpPr>
        <p:spPr>
          <a:xfrm>
            <a:off x="7112000" y="6858000"/>
            <a:ext cx="10160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893223-E30B-4650-90A8-BF3325CAA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1550" y="825500"/>
            <a:ext cx="11982450" cy="1270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804" y="1193800"/>
            <a:ext cx="1270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 err="1">
                <a:solidFill>
                  <a:srgbClr val="FFFFFF"/>
                </a:solidFill>
                <a:latin typeface="Traditional Arabic" panose="02020603050405020304" pitchFamily="18" charset="-78"/>
                <a:ea typeface="Liter" panose="02000503030000020004" pitchFamily="34" charset="-122"/>
                <a:cs typeface="Traditional Arabic" panose="02020603050405020304" pitchFamily="18" charset="-78"/>
              </a:rPr>
              <a:t>Абстрактные</a:t>
            </a:r>
            <a:r>
              <a:rPr lang="en-US" sz="6400" b="1" kern="0" spc="-120" dirty="0">
                <a:solidFill>
                  <a:srgbClr val="FFFFFF"/>
                </a:solidFill>
                <a:latin typeface="Traditional Arabic" panose="02020603050405020304" pitchFamily="18" charset="-78"/>
                <a:ea typeface="Liter" panose="02000503030000020004" pitchFamily="34" charset="-122"/>
                <a:cs typeface="Traditional Arabic" panose="02020603050405020304" pitchFamily="18" charset="-78"/>
              </a:rPr>
              <a:t> </a:t>
            </a:r>
            <a:r>
              <a:rPr lang="en-US" sz="6400" b="1" kern="0" spc="-120" dirty="0" err="1">
                <a:solidFill>
                  <a:srgbClr val="FFFFFF"/>
                </a:solidFill>
                <a:latin typeface="Traditional Arabic" panose="02020603050405020304" pitchFamily="18" charset="-78"/>
                <a:ea typeface="Liter" panose="02000503030000020004" pitchFamily="34" charset="-122"/>
                <a:cs typeface="Traditional Arabic" panose="02020603050405020304" pitchFamily="18" charset="-78"/>
              </a:rPr>
              <a:t>методы</a:t>
            </a:r>
            <a:r>
              <a:rPr lang="ru-RU" sz="64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Traditional Arabic" panose="02020603050405020304" pitchFamily="18" charset="-78"/>
              </a:rPr>
              <a:t> и классы</a:t>
            </a:r>
            <a:endParaRPr lang="en-US" sz="6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6" name="Text 4"/>
          <p:cNvSpPr/>
          <p:nvPr/>
        </p:nvSpPr>
        <p:spPr>
          <a:xfrm>
            <a:off x="467804" y="3387397"/>
            <a:ext cx="10160000" cy="32463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ru-RU" sz="3600" b="1" dirty="0">
                <a:solidFill>
                  <a:schemeClr val="bg1"/>
                </a:solidFill>
              </a:rPr>
              <a:t>Абстрактный метод</a:t>
            </a:r>
            <a:r>
              <a:rPr lang="ru-RU" sz="3600" dirty="0">
                <a:solidFill>
                  <a:schemeClr val="bg1"/>
                </a:solidFill>
              </a:rPr>
              <a:t> — это метод, который          	объявлен в классе, но не имеет реализации</a:t>
            </a:r>
          </a:p>
          <a:p>
            <a:pPr algn="ctr">
              <a:lnSpc>
                <a:spcPct val="100000"/>
              </a:lnSpc>
            </a:pPr>
            <a:endParaRPr lang="ru-RU" sz="3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3600" b="1" dirty="0">
                <a:solidFill>
                  <a:schemeClr val="bg1"/>
                </a:solidFill>
              </a:rPr>
              <a:t>Абстрактный класс </a:t>
            </a:r>
            <a:r>
              <a:rPr lang="ru-RU" sz="3600" dirty="0">
                <a:solidFill>
                  <a:schemeClr val="bg1"/>
                </a:solidFill>
              </a:rPr>
              <a:t>– это класс, который содержит 	абстрактный метод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38C6205-052C-4C8C-A160-AA17C2B3F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9314" y="225457"/>
            <a:ext cx="11714686" cy="1349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3833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016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Traditional Arabic" panose="02020603050405020304" pitchFamily="18" charset="-78"/>
                <a:ea typeface="Liter" panose="02000503030000020004" pitchFamily="34" charset="-122"/>
                <a:cs typeface="Traditional Arabic" panose="02020603050405020304" pitchFamily="18" charset="-78"/>
              </a:rPr>
              <a:t>Полиморфизм</a:t>
            </a:r>
            <a:endParaRPr lang="en-US" sz="6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4" name="Shape 2"/>
          <p:cNvSpPr/>
          <p:nvPr/>
        </p:nvSpPr>
        <p:spPr>
          <a:xfrm>
            <a:off x="1270000" y="2794000"/>
            <a:ext cx="11153228" cy="7699360"/>
          </a:xfrm>
          <a:prstGeom prst="rect">
            <a:avLst/>
          </a:prstGeom>
          <a:solidFill>
            <a:srgbClr val="3A3A3A"/>
          </a:solidFill>
          <a:ln w="25400">
            <a:solidFill>
              <a:srgbClr val="555555"/>
            </a:solidFill>
            <a:prstDash val="dash"/>
          </a:ln>
        </p:spPr>
        <p:txBody>
          <a:bodyPr/>
          <a:lstStyle/>
          <a:p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  <a:cs typeface="Traditional Arabic" panose="02020603050405020304" pitchFamily="18" charset="-78"/>
              </a:rPr>
              <a:t>Полиморфизм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 Neue"/>
                <a:cs typeface="Traditional Arabic" panose="02020603050405020304" pitchFamily="18" charset="-78"/>
              </a:rPr>
              <a:t> - это возможность применения одноименных методов с одинаковыми или различными наборами параметров в одном классе или в группе классов, связанных отношением наследования</a:t>
            </a:r>
            <a:endParaRPr lang="ru-RU" sz="3600" dirty="0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42EF707-F9C4-47A6-B38D-CB67DCE01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711"/>
            <a:ext cx="65" cy="307777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8E0633-2AE0-48DC-AB71-82EFABF95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2916" y="2794000"/>
            <a:ext cx="9601084" cy="76993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9680" y="1016000"/>
            <a:ext cx="1016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400" b="1" kern="0" spc="-120" dirty="0">
                <a:solidFill>
                  <a:srgbClr val="FFFFFF"/>
                </a:solidFill>
                <a:latin typeface="Traditional Arabic" panose="020B0604020202020204" pitchFamily="18" charset="-78"/>
                <a:ea typeface="Liter" panose="02000503030000020004" pitchFamily="34" charset="-122"/>
                <a:cs typeface="Traditional Arabic" panose="020B0604020202020204" pitchFamily="18" charset="-78"/>
              </a:rPr>
              <a:t>Полиморфизм</a:t>
            </a:r>
            <a:endParaRPr lang="en-US" sz="6400" dirty="0">
              <a:latin typeface="Traditional Arabic" panose="020B0604020202020204" pitchFamily="18" charset="-78"/>
              <a:cs typeface="Traditional Arabic" panose="020B0604020202020204" pitchFamily="18" charset="-7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249680" y="2286000"/>
            <a:ext cx="2032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42EF707-F9C4-47A6-B38D-CB67DCE01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711"/>
            <a:ext cx="65" cy="307777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08C8AB-5FEB-4DAF-A01F-D2727F434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315" y="0"/>
            <a:ext cx="12477685" cy="1366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84172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uj6ruhfaa7b4/mnt/agents/output/oop-java/images/6_Free_Glowing_Code_Workspace_Image.png"/>
          <p:cNvPicPr>
            <a:picLocks noChangeAspect="1"/>
          </p:cNvPicPr>
          <p:nvPr/>
        </p:nvPicPr>
        <p:blipFill>
          <a:blip r:embed="rId3">
            <a:alphaModFix amt="35000"/>
          </a:blip>
          <a:srcRect l="26720" r="26720"/>
          <a:stretch>
            <a:fillRect/>
          </a:stretch>
        </p:blipFill>
        <p:spPr>
          <a:xfrm>
            <a:off x="0" y="0"/>
            <a:ext cx="11176000" cy="1371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46000" y="3810000"/>
            <a:ext cx="10668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200" b="1" kern="0" spc="-12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Спасибо за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kern="0" spc="-120" dirty="0">
                <a:solidFill>
                  <a:srgbClr val="7EC0D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внимание!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2446000" y="6604000"/>
            <a:ext cx="2540000" cy="50800"/>
          </a:xfrm>
          <a:prstGeom prst="rect">
            <a:avLst/>
          </a:prstGeom>
          <a:solidFill>
            <a:srgbClr val="7EC0DA"/>
          </a:solidFill>
        </p:spPr>
      </p:sp>
      <p:sp>
        <p:nvSpPr>
          <p:cNvPr id="5" name="Text 2"/>
          <p:cNvSpPr/>
          <p:nvPr/>
        </p:nvSpPr>
        <p:spPr>
          <a:xfrm>
            <a:off x="12446000" y="6985000"/>
            <a:ext cx="762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Есть вопросы?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446000" y="8890000"/>
            <a:ext cx="762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Федор Кашафутдинов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Коба Владислав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1111</Words>
  <Application>Microsoft Office PowerPoint</Application>
  <PresentationFormat>Произвольный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Calibri</vt:lpstr>
      <vt:lpstr>YS Text</vt:lpstr>
      <vt:lpstr>Traditional Arabic</vt:lpstr>
      <vt:lpstr>Liter</vt:lpstr>
      <vt:lpstr>Helvetica Neue</vt:lpstr>
      <vt:lpstr>Liter, MiSans</vt:lpstr>
      <vt:lpstr>Arial</vt:lpstr>
      <vt:lpstr>Consolas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Объектно-ориентированное программирование в Java</dc:title>
  <dc:subject>Объектно-ориентированное программирование в Java</dc:subject>
  <dc:creator>Kimi</dc:creator>
  <cp:lastModifiedBy>Фёдор Кашафутдинов</cp:lastModifiedBy>
  <cp:revision>6</cp:revision>
  <dcterms:created xsi:type="dcterms:W3CDTF">2026-04-23T23:05:00Z</dcterms:created>
  <dcterms:modified xsi:type="dcterms:W3CDTF">2026-04-24T10:11:02Z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{"Label":"Объектно-ориентированное программирование в Java","ContentProducer":"001191110108MACG2KBH8F10000","ProduceID":"19dbc960-9232-844f-8000-0000251df87f","ReservedCode1":"","ContentPropagator":"001191110108MACG2KBH8F20000","PropagateID":"19dbc960-9232-844f-8000-0000251df87f","ReservedCode2":""}</vt:lpwstr>
  </property>
  <property fmtid="{D5CDD505-2E9C-101B-9397-08002B2CF9AE}" pid="3" name="ICV">
    <vt:lpwstr>7A9EC25866D74BC1A23748B8DE89A355_13</vt:lpwstr>
  </property>
  <property fmtid="{D5CDD505-2E9C-101B-9397-08002B2CF9AE}" pid="4" name="KSOProductBuildVer">
    <vt:lpwstr>1049-12.2.0.23196</vt:lpwstr>
  </property>
</Properties>
</file>